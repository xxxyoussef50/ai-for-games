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4"/>
  </p:notesMasterIdLst>
  <p:handoutMasterIdLst>
    <p:handoutMasterId r:id="rId25"/>
  </p:handoutMasterIdLst>
  <p:sldIdLst>
    <p:sldId id="619" r:id="rId2"/>
    <p:sldId id="629" r:id="rId3"/>
    <p:sldId id="628" r:id="rId4"/>
    <p:sldId id="632" r:id="rId5"/>
    <p:sldId id="631" r:id="rId6"/>
    <p:sldId id="640" r:id="rId7"/>
    <p:sldId id="641" r:id="rId8"/>
    <p:sldId id="643" r:id="rId9"/>
    <p:sldId id="644" r:id="rId10"/>
    <p:sldId id="642" r:id="rId11"/>
    <p:sldId id="639" r:id="rId12"/>
    <p:sldId id="633" r:id="rId13"/>
    <p:sldId id="634" r:id="rId14"/>
    <p:sldId id="635" r:id="rId15"/>
    <p:sldId id="636" r:id="rId16"/>
    <p:sldId id="637" r:id="rId17"/>
    <p:sldId id="638" r:id="rId18"/>
    <p:sldId id="645" r:id="rId19"/>
    <p:sldId id="646" r:id="rId20"/>
    <p:sldId id="647" r:id="rId21"/>
    <p:sldId id="648" r:id="rId22"/>
    <p:sldId id="607" r:id="rId23"/>
  </p:sldIdLst>
  <p:sldSz cx="12192000" cy="6858000"/>
  <p:notesSz cx="9723438" cy="6858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339966"/>
    <a:srgbClr val="00FF00"/>
    <a:srgbClr val="000000"/>
    <a:srgbClr val="6CA473"/>
    <a:srgbClr val="FF7C80"/>
    <a:srgbClr val="D1624F"/>
    <a:srgbClr val="DD8B7D"/>
    <a:srgbClr val="608959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0" autoAdjust="0"/>
    <p:restoredTop sz="94249" autoAdjust="0"/>
  </p:normalViewPr>
  <p:slideViewPr>
    <p:cSldViewPr snapToGrid="0">
      <p:cViewPr varScale="1">
        <p:scale>
          <a:sx n="62" d="100"/>
          <a:sy n="62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43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14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07038" y="0"/>
            <a:ext cx="421481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4214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07038" y="6513513"/>
            <a:ext cx="421481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206E410-8D03-45BD-8515-61265B31E28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6135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14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07038" y="0"/>
            <a:ext cx="421481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76513" y="514350"/>
            <a:ext cx="4572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1550" y="3257550"/>
            <a:ext cx="7780338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4214813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07038" y="6513513"/>
            <a:ext cx="4214812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52CE4E52-8EA1-4998-A009-D32D3A81BB1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25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E4E52-8EA1-4998-A009-D32D3A81BB1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85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CE4E52-8EA1-4998-A009-D32D3A81BB1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6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842" name="Rectangle 1642"/>
          <p:cNvSpPr>
            <a:spLocks noChangeArrowheads="1"/>
          </p:cNvSpPr>
          <p:nvPr/>
        </p:nvSpPr>
        <p:spPr bwMode="gray">
          <a:xfrm>
            <a:off x="4095751" y="0"/>
            <a:ext cx="1890183" cy="685800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34" name="Rectangle 1634"/>
          <p:cNvSpPr>
            <a:spLocks noChangeArrowheads="1"/>
          </p:cNvSpPr>
          <p:nvPr/>
        </p:nvSpPr>
        <p:spPr bwMode="gray">
          <a:xfrm>
            <a:off x="1" y="0"/>
            <a:ext cx="4203700" cy="6858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shade val="85882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796" name="Rectangle 1596"/>
          <p:cNvSpPr>
            <a:spLocks noChangeArrowheads="1"/>
          </p:cNvSpPr>
          <p:nvPr/>
        </p:nvSpPr>
        <p:spPr bwMode="gray">
          <a:xfrm>
            <a:off x="9203267" y="-11113"/>
            <a:ext cx="404284" cy="6858001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797" name="Rectangle 1597"/>
          <p:cNvSpPr>
            <a:spLocks noChangeArrowheads="1"/>
          </p:cNvSpPr>
          <p:nvPr/>
        </p:nvSpPr>
        <p:spPr bwMode="gray">
          <a:xfrm>
            <a:off x="9544051" y="12700"/>
            <a:ext cx="302683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792" name="Rectangle 1592"/>
          <p:cNvSpPr>
            <a:spLocks noChangeArrowheads="1"/>
          </p:cNvSpPr>
          <p:nvPr/>
        </p:nvSpPr>
        <p:spPr bwMode="gray">
          <a:xfrm>
            <a:off x="5833534" y="0"/>
            <a:ext cx="1413933" cy="6858000"/>
          </a:xfrm>
          <a:prstGeom prst="rect">
            <a:avLst/>
          </a:prstGeom>
          <a:solidFill>
            <a:schemeClr val="accent2">
              <a:alpha val="6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793" name="Rectangle 1593"/>
          <p:cNvSpPr>
            <a:spLocks noChangeArrowheads="1"/>
          </p:cNvSpPr>
          <p:nvPr/>
        </p:nvSpPr>
        <p:spPr bwMode="gray">
          <a:xfrm>
            <a:off x="7145867" y="-17463"/>
            <a:ext cx="971551" cy="6938963"/>
          </a:xfrm>
          <a:prstGeom prst="rect">
            <a:avLst/>
          </a:prstGeom>
          <a:solidFill>
            <a:schemeClr val="accent2">
              <a:alpha val="53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794" name="Rectangle 1594"/>
          <p:cNvSpPr>
            <a:spLocks noChangeArrowheads="1"/>
          </p:cNvSpPr>
          <p:nvPr/>
        </p:nvSpPr>
        <p:spPr bwMode="gray">
          <a:xfrm>
            <a:off x="8024285" y="-19050"/>
            <a:ext cx="730249" cy="6938963"/>
          </a:xfrm>
          <a:prstGeom prst="rect">
            <a:avLst/>
          </a:prstGeom>
          <a:solidFill>
            <a:schemeClr val="accent2">
              <a:alpha val="47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795" name="Rectangle 1595"/>
          <p:cNvSpPr>
            <a:spLocks noChangeArrowheads="1"/>
          </p:cNvSpPr>
          <p:nvPr/>
        </p:nvSpPr>
        <p:spPr bwMode="gray">
          <a:xfrm>
            <a:off x="8674100" y="0"/>
            <a:ext cx="594784" cy="6858000"/>
          </a:xfrm>
          <a:prstGeom prst="rect">
            <a:avLst/>
          </a:prstGeom>
          <a:solidFill>
            <a:schemeClr val="accent2">
              <a:alpha val="37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22" name="Rectangle 1622"/>
          <p:cNvSpPr>
            <a:spLocks noChangeArrowheads="1"/>
          </p:cNvSpPr>
          <p:nvPr/>
        </p:nvSpPr>
        <p:spPr bwMode="gray">
          <a:xfrm>
            <a:off x="9785352" y="52388"/>
            <a:ext cx="182033" cy="6858000"/>
          </a:xfrm>
          <a:prstGeom prst="rect">
            <a:avLst/>
          </a:prstGeom>
          <a:solidFill>
            <a:schemeClr val="accent2">
              <a:alpha val="14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23" name="Rectangle 1623"/>
          <p:cNvSpPr>
            <a:spLocks noChangeArrowheads="1"/>
          </p:cNvSpPr>
          <p:nvPr/>
        </p:nvSpPr>
        <p:spPr bwMode="gray">
          <a:xfrm>
            <a:off x="11154834" y="20638"/>
            <a:ext cx="459317" cy="6858000"/>
          </a:xfrm>
          <a:prstGeom prst="rect">
            <a:avLst/>
          </a:prstGeom>
          <a:solidFill>
            <a:schemeClr val="accent2">
              <a:alpha val="23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24" name="Rectangle 1624"/>
          <p:cNvSpPr>
            <a:spLocks noChangeArrowheads="1"/>
          </p:cNvSpPr>
          <p:nvPr/>
        </p:nvSpPr>
        <p:spPr bwMode="gray">
          <a:xfrm>
            <a:off x="11552767" y="0"/>
            <a:ext cx="632884" cy="6858000"/>
          </a:xfrm>
          <a:prstGeom prst="rect">
            <a:avLst/>
          </a:prstGeom>
          <a:solidFill>
            <a:schemeClr val="accent2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43" name="Rectangle 1643"/>
          <p:cNvSpPr>
            <a:spLocks noChangeArrowheads="1"/>
          </p:cNvSpPr>
          <p:nvPr/>
        </p:nvSpPr>
        <p:spPr bwMode="gray">
          <a:xfrm>
            <a:off x="10604501" y="4763"/>
            <a:ext cx="182033" cy="6858000"/>
          </a:xfrm>
          <a:prstGeom prst="rect">
            <a:avLst/>
          </a:prstGeom>
          <a:solidFill>
            <a:schemeClr val="accent2">
              <a:alpha val="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44" name="Rectangle 1644"/>
          <p:cNvSpPr>
            <a:spLocks noChangeArrowheads="1"/>
          </p:cNvSpPr>
          <p:nvPr/>
        </p:nvSpPr>
        <p:spPr bwMode="gray">
          <a:xfrm>
            <a:off x="10727267" y="4763"/>
            <a:ext cx="224367" cy="6858000"/>
          </a:xfrm>
          <a:prstGeom prst="rect">
            <a:avLst/>
          </a:prstGeom>
          <a:solidFill>
            <a:schemeClr val="accent2">
              <a:alpha val="12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45" name="Rectangle 1645"/>
          <p:cNvSpPr>
            <a:spLocks noChangeArrowheads="1"/>
          </p:cNvSpPr>
          <p:nvPr/>
        </p:nvSpPr>
        <p:spPr bwMode="gray">
          <a:xfrm>
            <a:off x="10902951" y="-11113"/>
            <a:ext cx="306916" cy="6858001"/>
          </a:xfrm>
          <a:prstGeom prst="rect">
            <a:avLst/>
          </a:prstGeom>
          <a:solidFill>
            <a:schemeClr val="accent2">
              <a:alpha val="17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847" name="Rectangle 1647"/>
          <p:cNvSpPr>
            <a:spLocks noGrp="1" noChangeArrowheads="1"/>
          </p:cNvSpPr>
          <p:nvPr>
            <p:ph type="ctrTitle" sz="quarter"/>
          </p:nvPr>
        </p:nvSpPr>
        <p:spPr bwMode="gray">
          <a:xfrm>
            <a:off x="5069417" y="1314451"/>
            <a:ext cx="6807200" cy="1470025"/>
          </a:xfrm>
        </p:spPr>
        <p:txBody>
          <a:bodyPr/>
          <a:lstStyle>
            <a:lvl1pPr algn="ctr">
              <a:defRPr sz="44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36848" name="Rectangle 1648"/>
          <p:cNvSpPr>
            <a:spLocks noGrp="1" noChangeArrowheads="1"/>
          </p:cNvSpPr>
          <p:nvPr>
            <p:ph type="subTitle" sz="quarter" idx="1"/>
          </p:nvPr>
        </p:nvSpPr>
        <p:spPr bwMode="gray">
          <a:xfrm>
            <a:off x="5080000" y="2762250"/>
            <a:ext cx="6868584" cy="75723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Arial" pitchFamily="34" charset="0"/>
              <a:buChar char="•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73031" y="6591300"/>
            <a:ext cx="882651" cy="241300"/>
          </a:xfrm>
        </p:spPr>
        <p:txBody>
          <a:bodyPr/>
          <a:lstStyle>
            <a:lvl1pPr>
              <a:defRPr sz="1300"/>
            </a:lvl1pPr>
          </a:lstStyle>
          <a:p>
            <a:fld id="{E371C351-A638-4E2F-A4BA-73DD206E58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46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D5EBEE-BD79-4436-947F-352725EBCE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72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3717" y="1163639"/>
            <a:ext cx="5204883" cy="5360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1800" y="1163639"/>
            <a:ext cx="5207000" cy="53609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A5E8CA-F27D-4CB5-BE95-8F4D32580A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A95AC1-1409-4FD9-B2B9-4F4E37E013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5D812-4D9B-4D75-85C2-6B75A54195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B22732-1DBC-4D03-AFC9-D69CADB52D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8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175949-C2CA-4AAA-BFF5-7C98369732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32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98D390-38FE-431C-8483-842B59F55B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05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FFD395-3D1E-4793-9A2A-23FF6CD034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4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7785" y="65089"/>
            <a:ext cx="2660649" cy="64595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3717" y="65089"/>
            <a:ext cx="7780867" cy="6459537"/>
          </a:xfrm>
        </p:spPr>
        <p:txBody>
          <a:bodyPr vert="eaVert"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80132-BC7C-4BCD-BDBB-A0AA318A86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01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7585" y="65089"/>
            <a:ext cx="10610849" cy="10112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3717" y="1163639"/>
            <a:ext cx="10615083" cy="5360987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37217" y="6616700"/>
            <a:ext cx="2844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85100" y="6616700"/>
            <a:ext cx="3860800" cy="2413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83767" y="6616700"/>
            <a:ext cx="882651" cy="241300"/>
          </a:xfrm>
        </p:spPr>
        <p:txBody>
          <a:bodyPr/>
          <a:lstStyle>
            <a:lvl1pPr>
              <a:defRPr/>
            </a:lvl1pPr>
          </a:lstStyle>
          <a:p>
            <a:fld id="{B3F6473C-CCD9-4E73-BDC3-67F61583654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5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19" name="Line 491"/>
          <p:cNvSpPr>
            <a:spLocks noChangeShapeType="1"/>
          </p:cNvSpPr>
          <p:nvPr/>
        </p:nvSpPr>
        <p:spPr bwMode="auto">
          <a:xfrm>
            <a:off x="1468967" y="1000125"/>
            <a:ext cx="10445751" cy="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002" name="Rectangle 474"/>
          <p:cNvSpPr>
            <a:spLocks noChangeArrowheads="1"/>
          </p:cNvSpPr>
          <p:nvPr/>
        </p:nvSpPr>
        <p:spPr bwMode="gray">
          <a:xfrm>
            <a:off x="359834" y="0"/>
            <a:ext cx="378884" cy="6889750"/>
          </a:xfrm>
          <a:prstGeom prst="rect">
            <a:avLst/>
          </a:prstGeom>
          <a:solidFill>
            <a:schemeClr val="accent2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003" name="Rectangle 475"/>
          <p:cNvSpPr>
            <a:spLocks noChangeArrowheads="1"/>
          </p:cNvSpPr>
          <p:nvPr/>
        </p:nvSpPr>
        <p:spPr bwMode="gray">
          <a:xfrm>
            <a:off x="-16934" y="0"/>
            <a:ext cx="440267" cy="6858000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28627"/>
                  <a:invGamma/>
                </a:schemeClr>
              </a:gs>
              <a:gs pos="100000">
                <a:schemeClr val="accent2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005" name="Rectangle 477"/>
          <p:cNvSpPr>
            <a:spLocks noChangeArrowheads="1"/>
          </p:cNvSpPr>
          <p:nvPr/>
        </p:nvSpPr>
        <p:spPr bwMode="gray">
          <a:xfrm>
            <a:off x="999067" y="-14288"/>
            <a:ext cx="95251" cy="687228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007" name="Rectangle 479"/>
          <p:cNvSpPr>
            <a:spLocks noChangeArrowheads="1"/>
          </p:cNvSpPr>
          <p:nvPr/>
        </p:nvSpPr>
        <p:spPr bwMode="gray">
          <a:xfrm>
            <a:off x="677334" y="0"/>
            <a:ext cx="224367" cy="6865938"/>
          </a:xfrm>
          <a:prstGeom prst="rect">
            <a:avLst/>
          </a:prstGeom>
          <a:solidFill>
            <a:schemeClr val="accent2">
              <a:alpha val="53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1009" name="Rectangle 481"/>
          <p:cNvSpPr>
            <a:spLocks noChangeArrowheads="1"/>
          </p:cNvSpPr>
          <p:nvPr/>
        </p:nvSpPr>
        <p:spPr bwMode="gray">
          <a:xfrm>
            <a:off x="882651" y="0"/>
            <a:ext cx="152400" cy="6872288"/>
          </a:xfrm>
          <a:prstGeom prst="rect">
            <a:avLst/>
          </a:prstGeom>
          <a:solidFill>
            <a:schemeClr val="accent2">
              <a:alpha val="37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0988" name="Rectangle 460"/>
          <p:cNvSpPr>
            <a:spLocks noGrp="1" noChangeArrowheads="1"/>
          </p:cNvSpPr>
          <p:nvPr>
            <p:ph type="title"/>
          </p:nvPr>
        </p:nvSpPr>
        <p:spPr bwMode="auto">
          <a:xfrm>
            <a:off x="1407585" y="65089"/>
            <a:ext cx="10610849" cy="101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50989" name="Rectangle 46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3717" y="1163639"/>
            <a:ext cx="10615083" cy="5360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0992" name="Rectangle 46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37164" y="6563692"/>
            <a:ext cx="882651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27DFF30-A2B4-4CDA-A736-392EA48BFA0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3" r:id="rId10"/>
    <p:sldLayoutId id="2147483661" r:id="rId11"/>
    <p:sldLayoutId id="214748366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85000"/>
        <a:buFont typeface="Wingdings" pitchFamily="2" charset="2"/>
        <a:buChar char="£"/>
        <a:defRPr sz="3200" b="1">
          <a:solidFill>
            <a:schemeClr val="accent6">
              <a:lumMod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105000"/>
        <a:buChar char="•"/>
        <a:defRPr sz="2800">
          <a:solidFill>
            <a:schemeClr val="tx2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5000"/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830A89-AFB2-4EB3-B4E5-EBCF2B1799C3}"/>
              </a:ext>
            </a:extLst>
          </p:cNvPr>
          <p:cNvSpPr/>
          <p:nvPr/>
        </p:nvSpPr>
        <p:spPr bwMode="auto">
          <a:xfrm>
            <a:off x="1294228" y="661182"/>
            <a:ext cx="10761454" cy="520504"/>
          </a:xfrm>
          <a:prstGeom prst="rect">
            <a:avLst/>
          </a:prstGeom>
          <a:solidFill>
            <a:srgbClr val="FFFFFF"/>
          </a:solidFill>
          <a:ln w="2857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rgbClr val="080808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1C351-A638-4E2F-A4BA-73DD206E5889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C8A48-5305-46BE-A32B-78C4EA68F855}"/>
              </a:ext>
            </a:extLst>
          </p:cNvPr>
          <p:cNvSpPr txBox="1"/>
          <p:nvPr/>
        </p:nvSpPr>
        <p:spPr>
          <a:xfrm>
            <a:off x="2267868" y="2767280"/>
            <a:ext cx="76562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Introduction to</a:t>
            </a:r>
          </a:p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</a:rPr>
              <a:t>Artificial Intelligence in Games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25329E-BC9A-4DD6-B38B-20DA07D48314}"/>
              </a:ext>
            </a:extLst>
          </p:cNvPr>
          <p:cNvSpPr txBox="1"/>
          <p:nvPr/>
        </p:nvSpPr>
        <p:spPr>
          <a:xfrm>
            <a:off x="5433799" y="4269930"/>
            <a:ext cx="13244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1906974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6C96-5261-41EF-99C1-68C2388C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Search Algorithms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BEA9C4-0889-43E2-AB54-0AEB7A7C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C893147-8F0A-4674-8297-9B05C22AD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60293"/>
              </p:ext>
            </p:extLst>
          </p:nvPr>
        </p:nvGraphicFramePr>
        <p:xfrm>
          <a:off x="1407585" y="2269425"/>
          <a:ext cx="3657600" cy="3657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405749209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861854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6600202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31345072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12333189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/>
                        <a:t>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282344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26733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234253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046532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608253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88EE20D-19F7-47D3-84AA-B2D0D343C04E}"/>
              </a:ext>
            </a:extLst>
          </p:cNvPr>
          <p:cNvSpPr txBox="1"/>
          <p:nvPr/>
        </p:nvSpPr>
        <p:spPr>
          <a:xfrm>
            <a:off x="1228666" y="1211210"/>
            <a:ext cx="97346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dirty="0">
                <a:solidFill>
                  <a:srgbClr val="003366"/>
                </a:solidFill>
                <a:latin typeface="Arial"/>
              </a:rPr>
              <a:t>Example: Implement BFS and DFS search algorithms to find the path from S to G.</a:t>
            </a:r>
          </a:p>
        </p:txBody>
      </p:sp>
    </p:spTree>
    <p:extLst>
      <p:ext uri="{BB962C8B-B14F-4D97-AF65-F5344CB8AC3E}">
        <p14:creationId xmlns:p14="http://schemas.microsoft.com/office/powerpoint/2010/main" val="245489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5">
            <a:extLst>
              <a:ext uri="{FF2B5EF4-FFF2-40B4-BE49-F238E27FC236}">
                <a16:creationId xmlns:a16="http://schemas.microsoft.com/office/drawing/2014/main" id="{BFCC3372-8008-49F9-8EC6-48198AA5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922" y="1980097"/>
            <a:ext cx="661855" cy="73183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194AE-3CF2-43B5-B664-43D22C03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Search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765FBC-7191-419E-AB12-6BB46B97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9A45C-DF2E-4551-B944-0104265E90B6}"/>
              </a:ext>
            </a:extLst>
          </p:cNvPr>
          <p:cNvSpPr txBox="1"/>
          <p:nvPr/>
        </p:nvSpPr>
        <p:spPr>
          <a:xfrm>
            <a:off x="1402496" y="1091824"/>
            <a:ext cx="3882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dirty="0">
                <a:solidFill>
                  <a:srgbClr val="003366"/>
                </a:solidFill>
                <a:latin typeface="Arial"/>
              </a:rPr>
              <a:t>Solution: BFS Algorithm </a:t>
            </a:r>
          </a:p>
        </p:txBody>
      </p:sp>
      <p:pic>
        <p:nvPicPr>
          <p:cNvPr id="62" name="Picture 61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9AB2472C-E6CB-4665-8F5E-9022EC1C0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107" y="1091824"/>
            <a:ext cx="3391443" cy="5650911"/>
          </a:xfrm>
          <a:prstGeom prst="rect">
            <a:avLst/>
          </a:prstGeom>
        </p:spPr>
      </p:pic>
      <p:sp>
        <p:nvSpPr>
          <p:cNvPr id="194" name="AutoShape 3">
            <a:extLst>
              <a:ext uri="{FF2B5EF4-FFF2-40B4-BE49-F238E27FC236}">
                <a16:creationId xmlns:a16="http://schemas.microsoft.com/office/drawing/2014/main" id="{C2C55F03-DD56-4618-8A6C-BF40E1D30E4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491927" y="1946759"/>
            <a:ext cx="3746500" cy="37465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5" name="Rectangle 5">
            <a:extLst>
              <a:ext uri="{FF2B5EF4-FFF2-40B4-BE49-F238E27FC236}">
                <a16:creationId xmlns:a16="http://schemas.microsoft.com/office/drawing/2014/main" id="{ACB9DE1C-D0B8-4611-B827-82F2F591E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090" y="197692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6" name="Rectangle 6">
            <a:extLst>
              <a:ext uri="{FF2B5EF4-FFF2-40B4-BE49-F238E27FC236}">
                <a16:creationId xmlns:a16="http://schemas.microsoft.com/office/drawing/2014/main" id="{0E3E54A2-B28D-4371-B5F9-3154F9E0E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927" y="197692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7" name="Rectangle 7">
            <a:extLst>
              <a:ext uri="{FF2B5EF4-FFF2-40B4-BE49-F238E27FC236}">
                <a16:creationId xmlns:a16="http://schemas.microsoft.com/office/drawing/2014/main" id="{0F85CDBD-8845-46B0-84E1-218A0C313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765" y="197692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8" name="Rectangle 8">
            <a:extLst>
              <a:ext uri="{FF2B5EF4-FFF2-40B4-BE49-F238E27FC236}">
                <a16:creationId xmlns:a16="http://schemas.microsoft.com/office/drawing/2014/main" id="{8B2650B5-4564-4CAB-B110-7E0748B7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02" y="197692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9" name="Rectangle 9">
            <a:extLst>
              <a:ext uri="{FF2B5EF4-FFF2-40B4-BE49-F238E27FC236}">
                <a16:creationId xmlns:a16="http://schemas.microsoft.com/office/drawing/2014/main" id="{AEC8699F-EAAD-4A4C-B0B0-5DF44B43C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090" y="2708759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0" name="Rectangle 10">
            <a:extLst>
              <a:ext uri="{FF2B5EF4-FFF2-40B4-BE49-F238E27FC236}">
                <a16:creationId xmlns:a16="http://schemas.microsoft.com/office/drawing/2014/main" id="{CCA3C163-976D-4329-8595-ACBB68F63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927" y="2708759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1" name="Rectangle 11">
            <a:extLst>
              <a:ext uri="{FF2B5EF4-FFF2-40B4-BE49-F238E27FC236}">
                <a16:creationId xmlns:a16="http://schemas.microsoft.com/office/drawing/2014/main" id="{D0B3E732-DE7D-4CEA-ADD5-53563B07E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02" y="2708759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2" name="Rectangle 12">
            <a:extLst>
              <a:ext uri="{FF2B5EF4-FFF2-40B4-BE49-F238E27FC236}">
                <a16:creationId xmlns:a16="http://schemas.microsoft.com/office/drawing/2014/main" id="{C4BE55C8-0FE7-4F94-8938-62535EB06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440" y="2708759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3" name="Rectangle 13">
            <a:extLst>
              <a:ext uri="{FF2B5EF4-FFF2-40B4-BE49-F238E27FC236}">
                <a16:creationId xmlns:a16="http://schemas.microsoft.com/office/drawing/2014/main" id="{2F9B7003-1132-40BC-AD08-5F1FBBA55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090" y="3440597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" name="Rectangle 14">
            <a:extLst>
              <a:ext uri="{FF2B5EF4-FFF2-40B4-BE49-F238E27FC236}">
                <a16:creationId xmlns:a16="http://schemas.microsoft.com/office/drawing/2014/main" id="{3F7B2FC6-89CA-44BE-94A2-90E3C455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927" y="3440597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" name="Rectangle 15">
            <a:extLst>
              <a:ext uri="{FF2B5EF4-FFF2-40B4-BE49-F238E27FC236}">
                <a16:creationId xmlns:a16="http://schemas.microsoft.com/office/drawing/2014/main" id="{443C1830-6F24-4C60-8878-20C7B2101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02" y="3440597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" name="Rectangle 16">
            <a:extLst>
              <a:ext uri="{FF2B5EF4-FFF2-40B4-BE49-F238E27FC236}">
                <a16:creationId xmlns:a16="http://schemas.microsoft.com/office/drawing/2014/main" id="{EBA02757-2F5B-4032-BFEE-03B4B4085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440" y="3440597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7" name="Rectangle 17">
            <a:extLst>
              <a:ext uri="{FF2B5EF4-FFF2-40B4-BE49-F238E27FC236}">
                <a16:creationId xmlns:a16="http://schemas.microsoft.com/office/drawing/2014/main" id="{DEA602FA-968C-4A0A-AE06-7F86F1C2D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090" y="4172434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8" name="Rectangle 18">
            <a:extLst>
              <a:ext uri="{FF2B5EF4-FFF2-40B4-BE49-F238E27FC236}">
                <a16:creationId xmlns:a16="http://schemas.microsoft.com/office/drawing/2014/main" id="{D9CB706F-0083-4BC8-AB34-3AA0E2D45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927" y="4172434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9" name="Rectangle 19">
            <a:extLst>
              <a:ext uri="{FF2B5EF4-FFF2-40B4-BE49-F238E27FC236}">
                <a16:creationId xmlns:a16="http://schemas.microsoft.com/office/drawing/2014/main" id="{7E4A3826-434F-4049-8903-1D405E3A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765" y="4172434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0" name="Rectangle 20">
            <a:extLst>
              <a:ext uri="{FF2B5EF4-FFF2-40B4-BE49-F238E27FC236}">
                <a16:creationId xmlns:a16="http://schemas.microsoft.com/office/drawing/2014/main" id="{82FD1F62-99B5-4DEB-B556-9661C1DA1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02" y="4172434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1" name="Rectangle 21">
            <a:extLst>
              <a:ext uri="{FF2B5EF4-FFF2-40B4-BE49-F238E27FC236}">
                <a16:creationId xmlns:a16="http://schemas.microsoft.com/office/drawing/2014/main" id="{80FC3923-4619-46FD-A24D-22F239411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440" y="4172434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2" name="Rectangle 22">
            <a:extLst>
              <a:ext uri="{FF2B5EF4-FFF2-40B4-BE49-F238E27FC236}">
                <a16:creationId xmlns:a16="http://schemas.microsoft.com/office/drawing/2014/main" id="{502F7AD1-EC3B-4ABA-BFF3-B14CD9A1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090" y="490427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3" name="Rectangle 23">
            <a:extLst>
              <a:ext uri="{FF2B5EF4-FFF2-40B4-BE49-F238E27FC236}">
                <a16:creationId xmlns:a16="http://schemas.microsoft.com/office/drawing/2014/main" id="{98F78233-4F6D-457A-A86B-67517F967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927" y="490427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4">
            <a:extLst>
              <a:ext uri="{FF2B5EF4-FFF2-40B4-BE49-F238E27FC236}">
                <a16:creationId xmlns:a16="http://schemas.microsoft.com/office/drawing/2014/main" id="{35CE86A5-7BF0-4B6A-B22A-CFBC52FDD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765" y="490427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Rectangle 25">
            <a:extLst>
              <a:ext uri="{FF2B5EF4-FFF2-40B4-BE49-F238E27FC236}">
                <a16:creationId xmlns:a16="http://schemas.microsoft.com/office/drawing/2014/main" id="{7BD159FE-933D-4F2A-9E3D-0FD9F63FD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602" y="490427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6" name="Rectangle 26">
            <a:extLst>
              <a:ext uri="{FF2B5EF4-FFF2-40B4-BE49-F238E27FC236}">
                <a16:creationId xmlns:a16="http://schemas.microsoft.com/office/drawing/2014/main" id="{1AEC1327-209A-4BDC-999C-6F7389277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440" y="4904272"/>
            <a:ext cx="731838" cy="7318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7" name="Line 27">
            <a:extLst>
              <a:ext uri="{FF2B5EF4-FFF2-40B4-BE49-F238E27FC236}">
                <a16:creationId xmlns:a16="http://schemas.microsoft.com/office/drawing/2014/main" id="{FDA082EC-E3A5-463D-8776-3AD0029D2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3927" y="1948347"/>
            <a:ext cx="0" cy="2227263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8" name="Line 28">
            <a:extLst>
              <a:ext uri="{FF2B5EF4-FFF2-40B4-BE49-F238E27FC236}">
                <a16:creationId xmlns:a16="http://schemas.microsoft.com/office/drawing/2014/main" id="{520C01EA-514D-4125-ABA1-5D69199B8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3927" y="4175609"/>
            <a:ext cx="0" cy="725488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9" name="Line 29">
            <a:extLst>
              <a:ext uri="{FF2B5EF4-FFF2-40B4-BE49-F238E27FC236}">
                <a16:creationId xmlns:a16="http://schemas.microsoft.com/office/drawing/2014/main" id="{A598937C-18E2-4312-AAAA-AB6155FEEC4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3927" y="4901097"/>
            <a:ext cx="0" cy="763588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0" name="Line 30">
            <a:extLst>
              <a:ext uri="{FF2B5EF4-FFF2-40B4-BE49-F238E27FC236}">
                <a16:creationId xmlns:a16="http://schemas.microsoft.com/office/drawing/2014/main" id="{B1F781F9-2E94-453E-A390-0FBA8088C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5765" y="1948347"/>
            <a:ext cx="0" cy="731838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1" name="Line 31">
            <a:extLst>
              <a:ext uri="{FF2B5EF4-FFF2-40B4-BE49-F238E27FC236}">
                <a16:creationId xmlns:a16="http://schemas.microsoft.com/office/drawing/2014/main" id="{5EB2F9BB-E4D2-4468-9CF1-1CB1C3FC5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5765" y="2680184"/>
            <a:ext cx="0" cy="1520825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2" name="Line 32">
            <a:extLst>
              <a:ext uri="{FF2B5EF4-FFF2-40B4-BE49-F238E27FC236}">
                <a16:creationId xmlns:a16="http://schemas.microsoft.com/office/drawing/2014/main" id="{6C28FAA9-6C58-4043-9D08-F39A0655D76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5765" y="4201009"/>
            <a:ext cx="0" cy="1463675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3" name="Line 33">
            <a:extLst>
              <a:ext uri="{FF2B5EF4-FFF2-40B4-BE49-F238E27FC236}">
                <a16:creationId xmlns:a16="http://schemas.microsoft.com/office/drawing/2014/main" id="{612D69F4-60EF-4FB7-8F9D-19161371A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602" y="1948347"/>
            <a:ext cx="0" cy="2195513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4" name="Line 34">
            <a:extLst>
              <a:ext uri="{FF2B5EF4-FFF2-40B4-BE49-F238E27FC236}">
                <a16:creationId xmlns:a16="http://schemas.microsoft.com/office/drawing/2014/main" id="{1A8E123E-B8B3-4B89-BACD-D743DD788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602" y="4143859"/>
            <a:ext cx="0" cy="788988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" name="Line 35">
            <a:extLst>
              <a:ext uri="{FF2B5EF4-FFF2-40B4-BE49-F238E27FC236}">
                <a16:creationId xmlns:a16="http://schemas.microsoft.com/office/drawing/2014/main" id="{E9BDBF8A-45D1-4BE6-80B6-F175262CF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7602" y="4932847"/>
            <a:ext cx="0" cy="731838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6" name="Line 36">
            <a:extLst>
              <a:ext uri="{FF2B5EF4-FFF2-40B4-BE49-F238E27FC236}">
                <a16:creationId xmlns:a16="http://schemas.microsoft.com/office/drawing/2014/main" id="{6B6E3C50-7880-4879-BD3A-EABD3DAE2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9440" y="1948347"/>
            <a:ext cx="0" cy="1495425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7" name="Line 37">
            <a:extLst>
              <a:ext uri="{FF2B5EF4-FFF2-40B4-BE49-F238E27FC236}">
                <a16:creationId xmlns:a16="http://schemas.microsoft.com/office/drawing/2014/main" id="{2E5EA70C-C195-4BD5-999C-AA7484B61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9440" y="3443772"/>
            <a:ext cx="0" cy="2220913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8" name="Line 38">
            <a:extLst>
              <a:ext uri="{FF2B5EF4-FFF2-40B4-BE49-F238E27FC236}">
                <a16:creationId xmlns:a16="http://schemas.microsoft.com/office/drawing/2014/main" id="{1B2C672D-9FA3-4FD4-9149-4E0F88A71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515" y="2708759"/>
            <a:ext cx="1463675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9" name="Line 39">
            <a:extLst>
              <a:ext uri="{FF2B5EF4-FFF2-40B4-BE49-F238E27FC236}">
                <a16:creationId xmlns:a16="http://schemas.microsoft.com/office/drawing/2014/main" id="{3BB2C4E2-D416-4A7B-BB30-B25E1354A5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190" y="2708759"/>
            <a:ext cx="763588" cy="0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0" name="Line 40">
            <a:extLst>
              <a:ext uri="{FF2B5EF4-FFF2-40B4-BE49-F238E27FC236}">
                <a16:creationId xmlns:a16="http://schemas.microsoft.com/office/drawing/2014/main" id="{403ECBBB-EDFB-4B6B-8517-564532CFD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0777" y="2708759"/>
            <a:ext cx="1489075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1" name="Line 41">
            <a:extLst>
              <a:ext uri="{FF2B5EF4-FFF2-40B4-BE49-F238E27FC236}">
                <a16:creationId xmlns:a16="http://schemas.microsoft.com/office/drawing/2014/main" id="{8077CCF2-8097-4A3C-BCBC-4E2FD6B835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515" y="3440597"/>
            <a:ext cx="1463675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2" name="Line 42">
            <a:extLst>
              <a:ext uri="{FF2B5EF4-FFF2-40B4-BE49-F238E27FC236}">
                <a16:creationId xmlns:a16="http://schemas.microsoft.com/office/drawing/2014/main" id="{DD9E80E1-21F5-47A2-A9FF-1569686BD4E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190" y="3440597"/>
            <a:ext cx="763588" cy="0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3" name="Line 43">
            <a:extLst>
              <a:ext uri="{FF2B5EF4-FFF2-40B4-BE49-F238E27FC236}">
                <a16:creationId xmlns:a16="http://schemas.microsoft.com/office/drawing/2014/main" id="{E1A88054-2B04-45B4-9A61-8C841A697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0777" y="3440597"/>
            <a:ext cx="1489075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4" name="Line 44">
            <a:extLst>
              <a:ext uri="{FF2B5EF4-FFF2-40B4-BE49-F238E27FC236}">
                <a16:creationId xmlns:a16="http://schemas.microsoft.com/office/drawing/2014/main" id="{69FC3A18-4C2D-4FB5-A18F-0ECE1D3A9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515" y="4172434"/>
            <a:ext cx="1463675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5" name="Line 45">
            <a:extLst>
              <a:ext uri="{FF2B5EF4-FFF2-40B4-BE49-F238E27FC236}">
                <a16:creationId xmlns:a16="http://schemas.microsoft.com/office/drawing/2014/main" id="{4CDB5F40-D100-4CF9-86FE-825EAF523E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190" y="4172434"/>
            <a:ext cx="1495425" cy="0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6" name="Line 46">
            <a:extLst>
              <a:ext uri="{FF2B5EF4-FFF2-40B4-BE49-F238E27FC236}">
                <a16:creationId xmlns:a16="http://schemas.microsoft.com/office/drawing/2014/main" id="{5598DB18-BBB9-4A60-ACA7-FF26E2E2073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615" y="4172434"/>
            <a:ext cx="757238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7" name="Line 47">
            <a:extLst>
              <a:ext uri="{FF2B5EF4-FFF2-40B4-BE49-F238E27FC236}">
                <a16:creationId xmlns:a16="http://schemas.microsoft.com/office/drawing/2014/main" id="{C94EAB20-C680-49DB-BAD0-F98F2816B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515" y="4904272"/>
            <a:ext cx="1489075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8" name="Line 48">
            <a:extLst>
              <a:ext uri="{FF2B5EF4-FFF2-40B4-BE49-F238E27FC236}">
                <a16:creationId xmlns:a16="http://schemas.microsoft.com/office/drawing/2014/main" id="{CE16E54A-B77B-41FD-827D-92A3A7BED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2590" y="4904272"/>
            <a:ext cx="1470025" cy="0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9" name="Line 49">
            <a:extLst>
              <a:ext uri="{FF2B5EF4-FFF2-40B4-BE49-F238E27FC236}">
                <a16:creationId xmlns:a16="http://schemas.microsoft.com/office/drawing/2014/main" id="{69B6D24A-27A9-4497-B5A0-825B3CC2A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2615" y="4904272"/>
            <a:ext cx="757238" cy="0"/>
          </a:xfrm>
          <a:prstGeom prst="line">
            <a:avLst/>
          </a:prstGeom>
          <a:solidFill>
            <a:schemeClr val="bg1"/>
          </a:solidFill>
          <a:ln w="63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0" name="Line 50">
            <a:extLst>
              <a:ext uri="{FF2B5EF4-FFF2-40B4-BE49-F238E27FC236}">
                <a16:creationId xmlns:a16="http://schemas.microsoft.com/office/drawing/2014/main" id="{B9BD4465-0E03-4A04-A49B-154BD4696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2090" y="1948347"/>
            <a:ext cx="0" cy="3716338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1" name="Line 51">
            <a:extLst>
              <a:ext uri="{FF2B5EF4-FFF2-40B4-BE49-F238E27FC236}">
                <a16:creationId xmlns:a16="http://schemas.microsoft.com/office/drawing/2014/main" id="{1E6671A8-A77A-456B-817C-E810EDC0EF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277" y="1948347"/>
            <a:ext cx="0" cy="3716338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2" name="Line 52">
            <a:extLst>
              <a:ext uri="{FF2B5EF4-FFF2-40B4-BE49-F238E27FC236}">
                <a16:creationId xmlns:a16="http://schemas.microsoft.com/office/drawing/2014/main" id="{AA8F6AE7-8B9D-4F0B-978B-C63BC2D9F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515" y="1976922"/>
            <a:ext cx="3716338" cy="0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3" name="Line 53">
            <a:extLst>
              <a:ext uri="{FF2B5EF4-FFF2-40B4-BE49-F238E27FC236}">
                <a16:creationId xmlns:a16="http://schemas.microsoft.com/office/drawing/2014/main" id="{FAE0D303-EF0F-4F75-99FC-44DEE506C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3515" y="5636109"/>
            <a:ext cx="3716338" cy="0"/>
          </a:xfrm>
          <a:prstGeom prst="line">
            <a:avLst/>
          </a:prstGeom>
          <a:solidFill>
            <a:schemeClr val="bg1"/>
          </a:solidFill>
          <a:ln w="57150" cap="flat">
            <a:solidFill>
              <a:srgbClr val="30311D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" name="Rectangle 55">
            <a:extLst>
              <a:ext uri="{FF2B5EF4-FFF2-40B4-BE49-F238E27FC236}">
                <a16:creationId xmlns:a16="http://schemas.microsoft.com/office/drawing/2014/main" id="{FC010071-E5B2-44F6-A179-DB6AFF9EE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040" y="2200759"/>
            <a:ext cx="31908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6" name="Rectangle 56">
            <a:extLst>
              <a:ext uri="{FF2B5EF4-FFF2-40B4-BE49-F238E27FC236}">
                <a16:creationId xmlns:a16="http://schemas.microsoft.com/office/drawing/2014/main" id="{2F7EDEF9-3AD9-4B0C-888A-ED2D5683C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302" y="2200759"/>
            <a:ext cx="3778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" name="Rectangle 57">
            <a:extLst>
              <a:ext uri="{FF2B5EF4-FFF2-40B4-BE49-F238E27FC236}">
                <a16:creationId xmlns:a16="http://schemas.microsoft.com/office/drawing/2014/main" id="{3580615E-9E5A-4472-B6BE-D85E4A1CC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015" y="2200759"/>
            <a:ext cx="34607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8" name="Rectangle 58">
            <a:extLst>
              <a:ext uri="{FF2B5EF4-FFF2-40B4-BE49-F238E27FC236}">
                <a16:creationId xmlns:a16="http://schemas.microsoft.com/office/drawing/2014/main" id="{96F651FC-64C8-423F-83AF-7C33EFA77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415" y="2931009"/>
            <a:ext cx="22066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" name="Rectangle 59">
            <a:extLst>
              <a:ext uri="{FF2B5EF4-FFF2-40B4-BE49-F238E27FC236}">
                <a16:creationId xmlns:a16="http://schemas.microsoft.com/office/drawing/2014/main" id="{20DCC9F0-B151-45E9-B107-E8A19D14C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7615" y="2931009"/>
            <a:ext cx="26193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1" name="Rectangle 61">
            <a:extLst>
              <a:ext uri="{FF2B5EF4-FFF2-40B4-BE49-F238E27FC236}">
                <a16:creationId xmlns:a16="http://schemas.microsoft.com/office/drawing/2014/main" id="{229E452E-304A-4BA5-9123-68710CD92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252" y="2931009"/>
            <a:ext cx="3540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2" name="Rectangle 62">
            <a:extLst>
              <a:ext uri="{FF2B5EF4-FFF2-40B4-BE49-F238E27FC236}">
                <a16:creationId xmlns:a16="http://schemas.microsoft.com/office/drawing/2014/main" id="{7956068C-3159-4ABD-9011-2C0BC2B45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565" y="2931009"/>
            <a:ext cx="37623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21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" name="Rectangle 63">
            <a:extLst>
              <a:ext uri="{FF2B5EF4-FFF2-40B4-BE49-F238E27FC236}">
                <a16:creationId xmlns:a16="http://schemas.microsoft.com/office/drawing/2014/main" id="{1B2AADDB-6936-4A16-A25E-586AF61FA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427" y="3662847"/>
            <a:ext cx="2762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4" name="Rectangle 64">
            <a:extLst>
              <a:ext uri="{FF2B5EF4-FFF2-40B4-BE49-F238E27FC236}">
                <a16:creationId xmlns:a16="http://schemas.microsoft.com/office/drawing/2014/main" id="{B595FAA0-2428-41FB-BF87-59842B938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3965" y="3662847"/>
            <a:ext cx="2508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5" name="Rectangle 65">
            <a:extLst>
              <a:ext uri="{FF2B5EF4-FFF2-40B4-BE49-F238E27FC236}">
                <a16:creationId xmlns:a16="http://schemas.microsoft.com/office/drawing/2014/main" id="{369B0885-E08B-4D8D-B140-A11581318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9852" y="3662847"/>
            <a:ext cx="4032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20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6" name="Rectangle 66">
            <a:extLst>
              <a:ext uri="{FF2B5EF4-FFF2-40B4-BE49-F238E27FC236}">
                <a16:creationId xmlns:a16="http://schemas.microsoft.com/office/drawing/2014/main" id="{AA5F9B43-BCB8-465B-A008-86B4B8511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977" y="3662847"/>
            <a:ext cx="3778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18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7" name="Rectangle 67">
            <a:extLst>
              <a:ext uri="{FF2B5EF4-FFF2-40B4-BE49-F238E27FC236}">
                <a16:creationId xmlns:a16="http://schemas.microsoft.com/office/drawing/2014/main" id="{C30B0D4E-551C-4613-85F7-F8DCEC889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7840" y="4394684"/>
            <a:ext cx="2778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8" name="Rectangle 68">
            <a:extLst>
              <a:ext uri="{FF2B5EF4-FFF2-40B4-BE49-F238E27FC236}">
                <a16:creationId xmlns:a16="http://schemas.microsoft.com/office/drawing/2014/main" id="{36D723F1-9732-4A38-BD7F-C28FEE425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140" y="4394684"/>
            <a:ext cx="24447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9" name="Rectangle 69">
            <a:extLst>
              <a:ext uri="{FF2B5EF4-FFF2-40B4-BE49-F238E27FC236}">
                <a16:creationId xmlns:a16="http://schemas.microsoft.com/office/drawing/2014/main" id="{0ADEC92F-24B6-49EC-BB70-03F19BB75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215" y="4394684"/>
            <a:ext cx="2524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0" name="Rectangle 70">
            <a:extLst>
              <a:ext uri="{FF2B5EF4-FFF2-40B4-BE49-F238E27FC236}">
                <a16:creationId xmlns:a16="http://schemas.microsoft.com/office/drawing/2014/main" id="{A5B7B7B0-EEB7-4B5F-BEBF-BC2B280C8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490" y="4394684"/>
            <a:ext cx="361950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1" name="Rectangle 71">
            <a:extLst>
              <a:ext uri="{FF2B5EF4-FFF2-40B4-BE49-F238E27FC236}">
                <a16:creationId xmlns:a16="http://schemas.microsoft.com/office/drawing/2014/main" id="{B4724525-5C17-40DC-9069-9EBA4B71C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677" y="4394684"/>
            <a:ext cx="3524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2" name="Rectangle 72">
            <a:extLst>
              <a:ext uri="{FF2B5EF4-FFF2-40B4-BE49-F238E27FC236}">
                <a16:creationId xmlns:a16="http://schemas.microsoft.com/office/drawing/2014/main" id="{7D5CD744-50F2-46E5-B41B-C65ACCE4C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7840" y="5126522"/>
            <a:ext cx="279400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3" name="Rectangle 73">
            <a:extLst>
              <a:ext uri="{FF2B5EF4-FFF2-40B4-BE49-F238E27FC236}">
                <a16:creationId xmlns:a16="http://schemas.microsoft.com/office/drawing/2014/main" id="{4BA386E1-B0F1-42CD-9869-D5546FDF5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9677" y="5126522"/>
            <a:ext cx="2778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4" name="Rectangle 74">
            <a:extLst>
              <a:ext uri="{FF2B5EF4-FFF2-40B4-BE49-F238E27FC236}">
                <a16:creationId xmlns:a16="http://schemas.microsoft.com/office/drawing/2014/main" id="{55B309AC-06BA-4498-8839-8E23E26F0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590" y="5126522"/>
            <a:ext cx="34766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5" name="Rectangle 75">
            <a:extLst>
              <a:ext uri="{FF2B5EF4-FFF2-40B4-BE49-F238E27FC236}">
                <a16:creationId xmlns:a16="http://schemas.microsoft.com/office/drawing/2014/main" id="{0DB7E29F-B830-4E0E-A2F5-7EC669BEE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727" y="5126522"/>
            <a:ext cx="37623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6" name="Rectangle 76">
            <a:extLst>
              <a:ext uri="{FF2B5EF4-FFF2-40B4-BE49-F238E27FC236}">
                <a16:creationId xmlns:a16="http://schemas.microsoft.com/office/drawing/2014/main" id="{73840F8D-5F8F-4504-AC92-6C2944C99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977" y="5126522"/>
            <a:ext cx="3794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8" name="Rectangle 11">
            <a:extLst>
              <a:ext uri="{FF2B5EF4-FFF2-40B4-BE49-F238E27FC236}">
                <a16:creationId xmlns:a16="http://schemas.microsoft.com/office/drawing/2014/main" id="{8FC8515F-2DC6-40DD-A16F-BB56B5141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352" y="2705584"/>
            <a:ext cx="731838" cy="731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9" name="Rectangle 12">
            <a:extLst>
              <a:ext uri="{FF2B5EF4-FFF2-40B4-BE49-F238E27FC236}">
                <a16:creationId xmlns:a16="http://schemas.microsoft.com/office/drawing/2014/main" id="{284827A7-C8D1-42A9-BDEC-161B29BC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331" y="1999281"/>
            <a:ext cx="688185" cy="7094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0" name="Rectangle 62">
            <a:extLst>
              <a:ext uri="{FF2B5EF4-FFF2-40B4-BE49-F238E27FC236}">
                <a16:creationId xmlns:a16="http://schemas.microsoft.com/office/drawing/2014/main" id="{D3C5C62D-DF7B-420F-90FD-95152506B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948" y="2199171"/>
            <a:ext cx="205184" cy="3693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0" dirty="0">
                <a:solidFill>
                  <a:srgbClr val="30311D"/>
                </a:solidFill>
              </a:rPr>
              <a:t>S</a:t>
            </a:r>
          </a:p>
        </p:txBody>
      </p:sp>
      <p:sp>
        <p:nvSpPr>
          <p:cNvPr id="282" name="Rectangle 12">
            <a:extLst>
              <a:ext uri="{FF2B5EF4-FFF2-40B4-BE49-F238E27FC236}">
                <a16:creationId xmlns:a16="http://schemas.microsoft.com/office/drawing/2014/main" id="{4FE98692-747B-40A8-848C-5F26F0F85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671" y="2727702"/>
            <a:ext cx="704088" cy="67665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3" name="Rectangle 62">
            <a:extLst>
              <a:ext uri="{FF2B5EF4-FFF2-40B4-BE49-F238E27FC236}">
                <a16:creationId xmlns:a16="http://schemas.microsoft.com/office/drawing/2014/main" id="{E4A2E959-5EB4-4915-B108-DC0374B23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9896" y="2939014"/>
            <a:ext cx="238848" cy="369332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0" dirty="0">
                <a:solidFill>
                  <a:srgbClr val="30311D"/>
                </a:solidFill>
              </a:rPr>
              <a:t>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5C311F-5A33-4177-B02C-EBA84B4691BB}"/>
              </a:ext>
            </a:extLst>
          </p:cNvPr>
          <p:cNvCxnSpPr>
            <a:cxnSpLocks/>
          </p:cNvCxnSpPr>
          <p:nvPr/>
        </p:nvCxnSpPr>
        <p:spPr bwMode="auto">
          <a:xfrm>
            <a:off x="2089473" y="2463316"/>
            <a:ext cx="16817" cy="2288555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711736C-343F-449D-B215-AD39D9C3DA66}"/>
              </a:ext>
            </a:extLst>
          </p:cNvPr>
          <p:cNvCxnSpPr>
            <a:cxnSpLocks/>
          </p:cNvCxnSpPr>
          <p:nvPr/>
        </p:nvCxnSpPr>
        <p:spPr bwMode="auto">
          <a:xfrm>
            <a:off x="2076536" y="4751872"/>
            <a:ext cx="745717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3878B27-CE8B-4D49-998B-5C4469555F72}"/>
              </a:ext>
            </a:extLst>
          </p:cNvPr>
          <p:cNvCxnSpPr>
            <a:cxnSpLocks/>
          </p:cNvCxnSpPr>
          <p:nvPr/>
        </p:nvCxnSpPr>
        <p:spPr bwMode="auto">
          <a:xfrm>
            <a:off x="2799557" y="2501834"/>
            <a:ext cx="16817" cy="2288555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F7EF4B6-AA15-4A2C-84D0-DA416E8DD7CF}"/>
              </a:ext>
            </a:extLst>
          </p:cNvPr>
          <p:cNvCxnSpPr>
            <a:cxnSpLocks/>
          </p:cNvCxnSpPr>
          <p:nvPr/>
        </p:nvCxnSpPr>
        <p:spPr bwMode="auto">
          <a:xfrm>
            <a:off x="2799557" y="2518260"/>
            <a:ext cx="1097280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40F314A-F506-412F-8954-45595E96CC12}"/>
              </a:ext>
            </a:extLst>
          </p:cNvPr>
          <p:cNvCxnSpPr>
            <a:cxnSpLocks/>
          </p:cNvCxnSpPr>
          <p:nvPr/>
        </p:nvCxnSpPr>
        <p:spPr bwMode="auto">
          <a:xfrm>
            <a:off x="3896837" y="2501833"/>
            <a:ext cx="0" cy="64922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F006D78F-50C6-495B-BAA1-C0FC13D7D6CB}"/>
              </a:ext>
            </a:extLst>
          </p:cNvPr>
          <p:cNvCxnSpPr/>
          <p:nvPr/>
        </p:nvCxnSpPr>
        <p:spPr bwMode="auto">
          <a:xfrm flipH="1">
            <a:off x="3584253" y="3123680"/>
            <a:ext cx="312584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B8A608E0-B9FC-4B49-8338-2DA2D51772D7}"/>
              </a:ext>
            </a:extLst>
          </p:cNvPr>
          <p:cNvSpPr txBox="1"/>
          <p:nvPr/>
        </p:nvSpPr>
        <p:spPr>
          <a:xfrm>
            <a:off x="1137450" y="6128720"/>
            <a:ext cx="619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</a:t>
            </a:r>
            <a:r>
              <a:rPr lang="en-US" dirty="0">
                <a:sym typeface="Wingdings" panose="05000000000000000000" pitchFamily="2" charset="2"/>
              </a:rPr>
              <a:t> 1  2  3  5  6  9  11  13  15  17  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5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2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2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2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2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indefinite"/>
                                        <p:tgtEl>
                                          <p:spTgt spid="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indefinit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indefinite"/>
                                        <p:tgtEl>
                                          <p:spTgt spid="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indefinite"/>
                                        <p:tgtEl>
                                          <p:spTgt spid="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indefinite"/>
                                        <p:tgtEl>
                                          <p:spTgt spid="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5" dur="indefinite"/>
                                        <p:tgtEl>
                                          <p:spTgt spid="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indefinite"/>
                                        <p:tgtEl>
                                          <p:spTgt spid="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2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indefinite"/>
                                        <p:tgtEl>
                                          <p:spTgt spid="2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indefinite"/>
                                        <p:tgtEl>
                                          <p:spTgt spid="2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indefinite"/>
                                        <p:tgtEl>
                                          <p:spTgt spid="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1" dur="indefinite"/>
                                        <p:tgtEl>
                                          <p:spTgt spid="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indefinite"/>
                                        <p:tgtEl>
                                          <p:spTgt spid="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indefinite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9" dur="indefinite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indefinite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7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indefinite"/>
                                        <p:tgtEl>
                                          <p:spTgt spid="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7" dur="indefinite"/>
                                        <p:tgtEl>
                                          <p:spTgt spid="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indefinite"/>
                                        <p:tgtEl>
                                          <p:spTgt spid="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indefinite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1" dur="indefinite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indefinite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indefinite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9" dur="indefinite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" dur="indefinite"/>
                                        <p:tgtEl>
                                          <p:spTgt spid="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indefinite"/>
                                        <p:tgtEl>
                                          <p:spTgt spid="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indefinite"/>
                                        <p:tgtEl>
                                          <p:spTgt spid="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indefinite"/>
                                        <p:tgtEl>
                                          <p:spTgt spid="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1" dur="indefinite"/>
                                        <p:tgtEl>
                                          <p:spTgt spid="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indefinite"/>
                                        <p:tgtEl>
                                          <p:spTgt spid="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6" dur="indefinite"/>
                                        <p:tgtEl>
                                          <p:spTgt spid="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7" dur="indefinite"/>
                                        <p:tgtEl>
                                          <p:spTgt spid="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50"/>
                            </p:stCondLst>
                            <p:childTnLst>
                              <p:par>
                                <p:cTn id="180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1" dur="indefinite"/>
                                        <p:tgtEl>
                                          <p:spTgt spid="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2" dur="indefinite"/>
                                        <p:tgtEl>
                                          <p:spTgt spid="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indefinite"/>
                                        <p:tgtEl>
                                          <p:spTgt spid="1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500"/>
                            </p:stCondLst>
                            <p:childTnLst>
                              <p:par>
                                <p:cTn id="185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6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7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indefinite"/>
                                        <p:tgtEl>
                                          <p:spTgt spid="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750"/>
                            </p:stCondLst>
                            <p:childTnLst>
                              <p:par>
                                <p:cTn id="190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1" dur="indefinite"/>
                                        <p:tgtEl>
                                          <p:spTgt spid="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2" dur="indefinite"/>
                                        <p:tgtEl>
                                          <p:spTgt spid="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indefinite"/>
                                        <p:tgtEl>
                                          <p:spTgt spid="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000"/>
                            </p:stCondLst>
                            <p:childTnLst>
                              <p:par>
                                <p:cTn id="195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6" dur="indefinite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7" dur="indefinite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" dur="indefinite"/>
                                        <p:tgtEl>
                                          <p:spTgt spid="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0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1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2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indefinite"/>
                                        <p:tgtEl>
                                          <p:spTgt spid="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500"/>
                            </p:stCondLst>
                            <p:childTnLst>
                              <p:par>
                                <p:cTn id="205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6" dur="indefinite"/>
                                        <p:tgtEl>
                                          <p:spTgt spid="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7" dur="indefinite"/>
                                        <p:tgtEl>
                                          <p:spTgt spid="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indefinite"/>
                                        <p:tgtEl>
                                          <p:spTgt spid="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750"/>
                            </p:stCondLst>
                            <p:childTnLst>
                              <p:par>
                                <p:cTn id="210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1" dur="indefinit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2" dur="indefinit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indefinite"/>
                                        <p:tgtEl>
                                          <p:spTgt spid="1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000"/>
                            </p:stCondLst>
                            <p:childTnLst>
                              <p:par>
                                <p:cTn id="215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6" dur="indefinite"/>
                                        <p:tgtEl>
                                          <p:spTgt spid="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7" dur="indefinite"/>
                                        <p:tgtEl>
                                          <p:spTgt spid="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indefinite"/>
                                        <p:tgtEl>
                                          <p:spTgt spid="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20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1" dur="indefinite"/>
                                        <p:tgtEl>
                                          <p:spTgt spid="1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2" dur="indefinite"/>
                                        <p:tgtEl>
                                          <p:spTgt spid="1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indefinite"/>
                                        <p:tgtEl>
                                          <p:spTgt spid="1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25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6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7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8" dur="indefinite"/>
                                        <p:tgtEl>
                                          <p:spTgt spid="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750"/>
                            </p:stCondLst>
                            <p:childTnLst>
                              <p:par>
                                <p:cTn id="230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1" dur="indefinite"/>
                                        <p:tgtEl>
                                          <p:spTgt spid="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2DE92D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2" dur="indefinite"/>
                                        <p:tgtEl>
                                          <p:spTgt spid="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indefinite"/>
                                        <p:tgtEl>
                                          <p:spTgt spid="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000"/>
                            </p:stCondLst>
                            <p:childTnLst>
                              <p:par>
                                <p:cTn id="2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3000"/>
                            </p:stCondLst>
                            <p:childTnLst>
                              <p:par>
                                <p:cTn id="2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3000"/>
                            </p:stCondLst>
                            <p:childTnLst>
                              <p:par>
                                <p:cTn id="2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3000"/>
                            </p:stCondLst>
                            <p:childTnLst>
                              <p:par>
                                <p:cTn id="2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3000"/>
                            </p:stCondLst>
                            <p:childTnLst>
                              <p:par>
                                <p:cTn id="2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000"/>
                            </p:stCondLst>
                            <p:childTnLst>
                              <p:par>
                                <p:cTn id="2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/>
      <p:bldP spid="246" grpId="0"/>
      <p:bldP spid="247" grpId="0"/>
      <p:bldP spid="248" grpId="0"/>
      <p:bldP spid="249" grpId="0"/>
      <p:bldP spid="251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7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94AE-3CF2-43B5-B664-43D22C03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Search Algorithms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765FBC-7191-419E-AB12-6BB46B97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9A45C-DF2E-4551-B944-0104265E90B6}"/>
              </a:ext>
            </a:extLst>
          </p:cNvPr>
          <p:cNvSpPr txBox="1"/>
          <p:nvPr/>
        </p:nvSpPr>
        <p:spPr>
          <a:xfrm>
            <a:off x="1402496" y="1091824"/>
            <a:ext cx="38824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dirty="0">
                <a:solidFill>
                  <a:srgbClr val="003366"/>
                </a:solidFill>
                <a:latin typeface="Arial"/>
              </a:rPr>
              <a:t>Solution: DFS Algorithm </a:t>
            </a:r>
          </a:p>
        </p:txBody>
      </p:sp>
      <p:sp>
        <p:nvSpPr>
          <p:cNvPr id="90" name="AutoShape 49">
            <a:extLst>
              <a:ext uri="{FF2B5EF4-FFF2-40B4-BE49-F238E27FC236}">
                <a16:creationId xmlns:a16="http://schemas.microsoft.com/office/drawing/2014/main" id="{E08E3AEC-B40B-4889-B7FE-04EB0F24BF5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1538422" y="1946759"/>
            <a:ext cx="3746500" cy="37465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1" name="Rectangle 51">
            <a:extLst>
              <a:ext uri="{FF2B5EF4-FFF2-40B4-BE49-F238E27FC236}">
                <a16:creationId xmlns:a16="http://schemas.microsoft.com/office/drawing/2014/main" id="{8C47EB8C-DFB8-43AE-9AF8-32EC2F92F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585" y="197692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Rectangle 52">
            <a:extLst>
              <a:ext uri="{FF2B5EF4-FFF2-40B4-BE49-F238E27FC236}">
                <a16:creationId xmlns:a16="http://schemas.microsoft.com/office/drawing/2014/main" id="{3E658754-C003-4FB7-AFCF-F6462A1D4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422" y="197692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Rectangle 53">
            <a:extLst>
              <a:ext uri="{FF2B5EF4-FFF2-40B4-BE49-F238E27FC236}">
                <a16:creationId xmlns:a16="http://schemas.microsoft.com/office/drawing/2014/main" id="{481C7FD6-1842-4B72-89D0-48B443363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260" y="197692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Rectangle 54">
            <a:extLst>
              <a:ext uri="{FF2B5EF4-FFF2-40B4-BE49-F238E27FC236}">
                <a16:creationId xmlns:a16="http://schemas.microsoft.com/office/drawing/2014/main" id="{EB281DAE-FB01-47AF-AED5-5073EC066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097" y="197692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Rectangle 55">
            <a:extLst>
              <a:ext uri="{FF2B5EF4-FFF2-40B4-BE49-F238E27FC236}">
                <a16:creationId xmlns:a16="http://schemas.microsoft.com/office/drawing/2014/main" id="{21F852FC-6AE5-48AB-BC4B-B7E2836A3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585" y="2708759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Rectangle 56">
            <a:extLst>
              <a:ext uri="{FF2B5EF4-FFF2-40B4-BE49-F238E27FC236}">
                <a16:creationId xmlns:a16="http://schemas.microsoft.com/office/drawing/2014/main" id="{BFA12BCD-F684-47D8-B959-D46E9CC6E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422" y="2708759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Rectangle 57">
            <a:extLst>
              <a:ext uri="{FF2B5EF4-FFF2-40B4-BE49-F238E27FC236}">
                <a16:creationId xmlns:a16="http://schemas.microsoft.com/office/drawing/2014/main" id="{A8E76262-B78C-4157-B485-C14ADC5C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260" y="2708759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Rectangle 58">
            <a:extLst>
              <a:ext uri="{FF2B5EF4-FFF2-40B4-BE49-F238E27FC236}">
                <a16:creationId xmlns:a16="http://schemas.microsoft.com/office/drawing/2014/main" id="{45700B67-7E39-4617-8716-783E888C6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097" y="2708759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9" name="Rectangle 59">
            <a:extLst>
              <a:ext uri="{FF2B5EF4-FFF2-40B4-BE49-F238E27FC236}">
                <a16:creationId xmlns:a16="http://schemas.microsoft.com/office/drawing/2014/main" id="{2B174F86-71EB-419B-9DD8-003C8B689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585" y="3440597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Rectangle 60">
            <a:extLst>
              <a:ext uri="{FF2B5EF4-FFF2-40B4-BE49-F238E27FC236}">
                <a16:creationId xmlns:a16="http://schemas.microsoft.com/office/drawing/2014/main" id="{9439D7EB-51B8-41CD-8719-B88E05B9D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422" y="3440597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Rectangle 61">
            <a:extLst>
              <a:ext uri="{FF2B5EF4-FFF2-40B4-BE49-F238E27FC236}">
                <a16:creationId xmlns:a16="http://schemas.microsoft.com/office/drawing/2014/main" id="{732653DA-84A1-407E-8EAD-43861391F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097" y="3440597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Rectangle 62">
            <a:extLst>
              <a:ext uri="{FF2B5EF4-FFF2-40B4-BE49-F238E27FC236}">
                <a16:creationId xmlns:a16="http://schemas.microsoft.com/office/drawing/2014/main" id="{EB2A192D-E3B8-4391-9463-0116F24F2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585" y="4172434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Rectangle 63">
            <a:extLst>
              <a:ext uri="{FF2B5EF4-FFF2-40B4-BE49-F238E27FC236}">
                <a16:creationId xmlns:a16="http://schemas.microsoft.com/office/drawing/2014/main" id="{0E4CCB80-B144-4DFD-8AC7-5FBA0482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422" y="4172434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Rectangle 64">
            <a:extLst>
              <a:ext uri="{FF2B5EF4-FFF2-40B4-BE49-F238E27FC236}">
                <a16:creationId xmlns:a16="http://schemas.microsoft.com/office/drawing/2014/main" id="{308300F1-7D10-40D6-ADA8-53BCFC856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260" y="4172434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Rectangle 65">
            <a:extLst>
              <a:ext uri="{FF2B5EF4-FFF2-40B4-BE49-F238E27FC236}">
                <a16:creationId xmlns:a16="http://schemas.microsoft.com/office/drawing/2014/main" id="{C1757BA2-56EA-4CF2-99C8-DE0746773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585" y="490427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Rectangle 66">
            <a:extLst>
              <a:ext uri="{FF2B5EF4-FFF2-40B4-BE49-F238E27FC236}">
                <a16:creationId xmlns:a16="http://schemas.microsoft.com/office/drawing/2014/main" id="{DD4E4AC0-DA56-4DF3-B40B-90A27DAF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422" y="4904272"/>
            <a:ext cx="731838" cy="7318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Line 67">
            <a:extLst>
              <a:ext uri="{FF2B5EF4-FFF2-40B4-BE49-F238E27FC236}">
                <a16:creationId xmlns:a16="http://schemas.microsoft.com/office/drawing/2014/main" id="{C6BE203C-733E-4B3B-90C6-1A1E7252E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0422" y="1948347"/>
            <a:ext cx="0" cy="2227263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Line 68">
            <a:extLst>
              <a:ext uri="{FF2B5EF4-FFF2-40B4-BE49-F238E27FC236}">
                <a16:creationId xmlns:a16="http://schemas.microsoft.com/office/drawing/2014/main" id="{7270B89E-F4D2-45A7-9DCF-EB3E77103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0422" y="4175609"/>
            <a:ext cx="0" cy="725488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Line 69">
            <a:extLst>
              <a:ext uri="{FF2B5EF4-FFF2-40B4-BE49-F238E27FC236}">
                <a16:creationId xmlns:a16="http://schemas.microsoft.com/office/drawing/2014/main" id="{C4BB35E8-CC5D-4AEB-A70B-A7D50E10C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0422" y="4901097"/>
            <a:ext cx="0" cy="763588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70">
            <a:extLst>
              <a:ext uri="{FF2B5EF4-FFF2-40B4-BE49-F238E27FC236}">
                <a16:creationId xmlns:a16="http://schemas.microsoft.com/office/drawing/2014/main" id="{2981F6CF-E37E-4019-800A-38540ED327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2260" y="1948347"/>
            <a:ext cx="0" cy="731838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71">
            <a:extLst>
              <a:ext uri="{FF2B5EF4-FFF2-40B4-BE49-F238E27FC236}">
                <a16:creationId xmlns:a16="http://schemas.microsoft.com/office/drawing/2014/main" id="{DE06E25C-7C7C-4058-9CA8-56024D06C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2260" y="2680184"/>
            <a:ext cx="0" cy="1520825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72">
            <a:extLst>
              <a:ext uri="{FF2B5EF4-FFF2-40B4-BE49-F238E27FC236}">
                <a16:creationId xmlns:a16="http://schemas.microsoft.com/office/drawing/2014/main" id="{2A1ED2B3-9CDF-4AE8-B625-22724A1E4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2260" y="4201009"/>
            <a:ext cx="0" cy="1463675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Line 73">
            <a:extLst>
              <a:ext uri="{FF2B5EF4-FFF2-40B4-BE49-F238E27FC236}">
                <a16:creationId xmlns:a16="http://schemas.microsoft.com/office/drawing/2014/main" id="{E8A1C538-2E31-41CB-921C-48E46722E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4097" y="1948347"/>
            <a:ext cx="0" cy="2195513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Line 74">
            <a:extLst>
              <a:ext uri="{FF2B5EF4-FFF2-40B4-BE49-F238E27FC236}">
                <a16:creationId xmlns:a16="http://schemas.microsoft.com/office/drawing/2014/main" id="{5A4C7F01-8A91-4F15-ACC1-1FBCB8983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4097" y="4143859"/>
            <a:ext cx="0" cy="788988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Line 75">
            <a:extLst>
              <a:ext uri="{FF2B5EF4-FFF2-40B4-BE49-F238E27FC236}">
                <a16:creationId xmlns:a16="http://schemas.microsoft.com/office/drawing/2014/main" id="{C814533C-AD5D-4DFB-B02B-D44B8EDAA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4097" y="4932847"/>
            <a:ext cx="0" cy="731838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Line 76">
            <a:extLst>
              <a:ext uri="{FF2B5EF4-FFF2-40B4-BE49-F238E27FC236}">
                <a16:creationId xmlns:a16="http://schemas.microsoft.com/office/drawing/2014/main" id="{1B715233-B88A-4655-9628-0D81E3DE0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935" y="1948347"/>
            <a:ext cx="0" cy="1495425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Line 77">
            <a:extLst>
              <a:ext uri="{FF2B5EF4-FFF2-40B4-BE49-F238E27FC236}">
                <a16:creationId xmlns:a16="http://schemas.microsoft.com/office/drawing/2014/main" id="{D66E25B8-AC9B-439A-9AF5-C4673BA00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935" y="3443772"/>
            <a:ext cx="0" cy="2220913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Line 78">
            <a:extLst>
              <a:ext uri="{FF2B5EF4-FFF2-40B4-BE49-F238E27FC236}">
                <a16:creationId xmlns:a16="http://schemas.microsoft.com/office/drawing/2014/main" id="{A40511F1-8251-4BD6-A50A-D9B98B3CD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010" y="2708759"/>
            <a:ext cx="1463675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Line 79">
            <a:extLst>
              <a:ext uri="{FF2B5EF4-FFF2-40B4-BE49-F238E27FC236}">
                <a16:creationId xmlns:a16="http://schemas.microsoft.com/office/drawing/2014/main" id="{5C0F49A8-79F3-4401-AC7C-8A089D0AC7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685" y="2708759"/>
            <a:ext cx="763588" cy="0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Line 80">
            <a:extLst>
              <a:ext uri="{FF2B5EF4-FFF2-40B4-BE49-F238E27FC236}">
                <a16:creationId xmlns:a16="http://schemas.microsoft.com/office/drawing/2014/main" id="{7522247A-E424-4C8B-A0DA-5029431CD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7272" y="2708759"/>
            <a:ext cx="1489075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Line 81">
            <a:extLst>
              <a:ext uri="{FF2B5EF4-FFF2-40B4-BE49-F238E27FC236}">
                <a16:creationId xmlns:a16="http://schemas.microsoft.com/office/drawing/2014/main" id="{BCBF7CDE-395C-4AF8-B093-E2A56BB2C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010" y="3440597"/>
            <a:ext cx="1463675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Line 82">
            <a:extLst>
              <a:ext uri="{FF2B5EF4-FFF2-40B4-BE49-F238E27FC236}">
                <a16:creationId xmlns:a16="http://schemas.microsoft.com/office/drawing/2014/main" id="{700E6562-AFE0-4A10-90BF-32D93438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685" y="3440597"/>
            <a:ext cx="763588" cy="0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ine 83">
            <a:extLst>
              <a:ext uri="{FF2B5EF4-FFF2-40B4-BE49-F238E27FC236}">
                <a16:creationId xmlns:a16="http://schemas.microsoft.com/office/drawing/2014/main" id="{F9F0F4BD-18DC-4640-B541-2DD572925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7272" y="3440597"/>
            <a:ext cx="1489075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Line 84">
            <a:extLst>
              <a:ext uri="{FF2B5EF4-FFF2-40B4-BE49-F238E27FC236}">
                <a16:creationId xmlns:a16="http://schemas.microsoft.com/office/drawing/2014/main" id="{B37226FA-F575-4B44-A761-FF1B3A050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010" y="4172434"/>
            <a:ext cx="1463675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Line 85">
            <a:extLst>
              <a:ext uri="{FF2B5EF4-FFF2-40B4-BE49-F238E27FC236}">
                <a16:creationId xmlns:a16="http://schemas.microsoft.com/office/drawing/2014/main" id="{D58DF2D2-5121-4126-9E79-D282DEB87A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3685" y="4172434"/>
            <a:ext cx="1495425" cy="0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0" name="Line 86">
            <a:extLst>
              <a:ext uri="{FF2B5EF4-FFF2-40B4-BE49-F238E27FC236}">
                <a16:creationId xmlns:a16="http://schemas.microsoft.com/office/drawing/2014/main" id="{992244A6-E8EC-4D2C-BDA7-A92969AFB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110" y="4172434"/>
            <a:ext cx="757238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1" name="Line 87">
            <a:extLst>
              <a:ext uri="{FF2B5EF4-FFF2-40B4-BE49-F238E27FC236}">
                <a16:creationId xmlns:a16="http://schemas.microsoft.com/office/drawing/2014/main" id="{39FDD04C-6B18-44BA-AC31-71DCCFB82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010" y="4904272"/>
            <a:ext cx="1489075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" name="Line 88">
            <a:extLst>
              <a:ext uri="{FF2B5EF4-FFF2-40B4-BE49-F238E27FC236}">
                <a16:creationId xmlns:a16="http://schemas.microsoft.com/office/drawing/2014/main" id="{85DC63A9-3FD3-4427-9A59-876D5EDF2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9085" y="4904272"/>
            <a:ext cx="1470025" cy="0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" name="Line 89">
            <a:extLst>
              <a:ext uri="{FF2B5EF4-FFF2-40B4-BE49-F238E27FC236}">
                <a16:creationId xmlns:a16="http://schemas.microsoft.com/office/drawing/2014/main" id="{2B1814C4-5889-4A7E-AF5B-D3AD0CDEA3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9110" y="4904272"/>
            <a:ext cx="757238" cy="0"/>
          </a:xfrm>
          <a:prstGeom prst="line">
            <a:avLst/>
          </a:prstGeom>
          <a:noFill/>
          <a:ln w="63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4" name="Line 90">
            <a:extLst>
              <a:ext uri="{FF2B5EF4-FFF2-40B4-BE49-F238E27FC236}">
                <a16:creationId xmlns:a16="http://schemas.microsoft.com/office/drawing/2014/main" id="{5E58B423-B098-4F25-9EB2-71E62B6A0A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8585" y="1948347"/>
            <a:ext cx="0" cy="3716338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5" name="Line 91">
            <a:extLst>
              <a:ext uri="{FF2B5EF4-FFF2-40B4-BE49-F238E27FC236}">
                <a16:creationId xmlns:a16="http://schemas.microsoft.com/office/drawing/2014/main" id="{32824C94-B336-440E-8CC2-98D426AE6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7772" y="1948347"/>
            <a:ext cx="0" cy="3716338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Line 92">
            <a:extLst>
              <a:ext uri="{FF2B5EF4-FFF2-40B4-BE49-F238E27FC236}">
                <a16:creationId xmlns:a16="http://schemas.microsoft.com/office/drawing/2014/main" id="{597A4381-AEE1-4A4F-B390-1853B7ACC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010" y="1976922"/>
            <a:ext cx="3716338" cy="0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Line 93">
            <a:extLst>
              <a:ext uri="{FF2B5EF4-FFF2-40B4-BE49-F238E27FC236}">
                <a16:creationId xmlns:a16="http://schemas.microsoft.com/office/drawing/2014/main" id="{24E4644C-2E3C-483B-9411-CABDB32B1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0010" y="5636109"/>
            <a:ext cx="3716338" cy="0"/>
          </a:xfrm>
          <a:prstGeom prst="line">
            <a:avLst/>
          </a:prstGeom>
          <a:noFill/>
          <a:ln w="57150" cap="flat">
            <a:solidFill>
              <a:srgbClr val="30311D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Rectangle 94">
            <a:extLst>
              <a:ext uri="{FF2B5EF4-FFF2-40B4-BE49-F238E27FC236}">
                <a16:creationId xmlns:a16="http://schemas.microsoft.com/office/drawing/2014/main" id="{BA3398B3-CAC6-4636-8FDE-579020811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3697" y="2186472"/>
            <a:ext cx="336550" cy="403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0311D"/>
                </a:solidFill>
                <a:effectLst/>
                <a:latin typeface="Arial" panose="020B0604020202020204" pitchFamily="34" charset="0"/>
              </a:rPr>
              <a:t>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9" name="Rectangle 95">
            <a:extLst>
              <a:ext uri="{FF2B5EF4-FFF2-40B4-BE49-F238E27FC236}">
                <a16:creationId xmlns:a16="http://schemas.microsoft.com/office/drawing/2014/main" id="{E1EB9C72-C34E-4039-8D9C-B26BD67FE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247" y="2200759"/>
            <a:ext cx="34766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" name="Rectangle 96">
            <a:extLst>
              <a:ext uri="{FF2B5EF4-FFF2-40B4-BE49-F238E27FC236}">
                <a16:creationId xmlns:a16="http://schemas.microsoft.com/office/drawing/2014/main" id="{4BF81306-DA9B-4BCA-A4BB-8BD1AC987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372" y="2200759"/>
            <a:ext cx="31908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" name="Rectangle 97">
            <a:extLst>
              <a:ext uri="{FF2B5EF4-FFF2-40B4-BE49-F238E27FC236}">
                <a16:creationId xmlns:a16="http://schemas.microsoft.com/office/drawing/2014/main" id="{CE226A85-222D-4EDF-BD4D-E01A15CAD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222" y="2200759"/>
            <a:ext cx="37623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2" name="Rectangle 98">
            <a:extLst>
              <a:ext uri="{FF2B5EF4-FFF2-40B4-BE49-F238E27FC236}">
                <a16:creationId xmlns:a16="http://schemas.microsoft.com/office/drawing/2014/main" id="{7D54AE8A-2C0F-4D7A-9887-BB25E1B5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2910" y="2931009"/>
            <a:ext cx="22066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3" name="Rectangle 99">
            <a:extLst>
              <a:ext uri="{FF2B5EF4-FFF2-40B4-BE49-F238E27FC236}">
                <a16:creationId xmlns:a16="http://schemas.microsoft.com/office/drawing/2014/main" id="{8085B7CC-3174-45A5-B0C3-696AAAACC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4110" y="2931009"/>
            <a:ext cx="261938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9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4" name="Rectangle 100">
            <a:extLst>
              <a:ext uri="{FF2B5EF4-FFF2-40B4-BE49-F238E27FC236}">
                <a16:creationId xmlns:a16="http://schemas.microsoft.com/office/drawing/2014/main" id="{C39DD172-1E09-4CF8-AB77-CF14A3056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322" y="2916722"/>
            <a:ext cx="371475" cy="403225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0311D"/>
                </a:solidFill>
                <a:effectLst/>
                <a:latin typeface="Arial" panose="020B0604020202020204" pitchFamily="34" charset="0"/>
              </a:rPr>
              <a:t>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5" name="Rectangle 101">
            <a:extLst>
              <a:ext uri="{FF2B5EF4-FFF2-40B4-BE49-F238E27FC236}">
                <a16:creationId xmlns:a16="http://schemas.microsoft.com/office/drawing/2014/main" id="{E030955F-435C-4866-A654-F537EC3B3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635" y="2931009"/>
            <a:ext cx="3778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6" name="Rectangle 102">
            <a:extLst>
              <a:ext uri="{FF2B5EF4-FFF2-40B4-BE49-F238E27FC236}">
                <a16:creationId xmlns:a16="http://schemas.microsoft.com/office/drawing/2014/main" id="{6C6E4413-C30B-4F00-8588-BA667E6D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922" y="3662847"/>
            <a:ext cx="2762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7" name="Rectangle 103">
            <a:extLst>
              <a:ext uri="{FF2B5EF4-FFF2-40B4-BE49-F238E27FC236}">
                <a16:creationId xmlns:a16="http://schemas.microsoft.com/office/drawing/2014/main" id="{1D8CE788-7115-4DD6-9E23-FFD1F37E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0460" y="3662847"/>
            <a:ext cx="25082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8" name="Rectangle 104">
            <a:extLst>
              <a:ext uri="{FF2B5EF4-FFF2-40B4-BE49-F238E27FC236}">
                <a16:creationId xmlns:a16="http://schemas.microsoft.com/office/drawing/2014/main" id="{5398456B-3EF6-4BF1-ABD3-D5013511B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635" y="3662847"/>
            <a:ext cx="3794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14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9" name="Rectangle 105">
            <a:extLst>
              <a:ext uri="{FF2B5EF4-FFF2-40B4-BE49-F238E27FC236}">
                <a16:creationId xmlns:a16="http://schemas.microsoft.com/office/drawing/2014/main" id="{B1C9CF0E-F696-4E21-BCB1-A88245C47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335" y="4394684"/>
            <a:ext cx="2778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3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0" name="Rectangle 106">
            <a:extLst>
              <a:ext uri="{FF2B5EF4-FFF2-40B4-BE49-F238E27FC236}">
                <a16:creationId xmlns:a16="http://schemas.microsoft.com/office/drawing/2014/main" id="{36B0A449-76C6-456C-BF0D-A8332DCAC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635" y="4394684"/>
            <a:ext cx="244475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5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1" name="Rectangle 107">
            <a:extLst>
              <a:ext uri="{FF2B5EF4-FFF2-40B4-BE49-F238E27FC236}">
                <a16:creationId xmlns:a16="http://schemas.microsoft.com/office/drawing/2014/main" id="{C293D337-A1E5-4866-80B7-5EEA28117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710" y="4394684"/>
            <a:ext cx="2524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7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2" name="Rectangle 108">
            <a:extLst>
              <a:ext uri="{FF2B5EF4-FFF2-40B4-BE49-F238E27FC236}">
                <a16:creationId xmlns:a16="http://schemas.microsoft.com/office/drawing/2014/main" id="{BA10CEAF-B2D6-416F-B16F-F2EEADB19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335" y="5126522"/>
            <a:ext cx="279400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4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3" name="Rectangle 109">
            <a:extLst>
              <a:ext uri="{FF2B5EF4-FFF2-40B4-BE49-F238E27FC236}">
                <a16:creationId xmlns:a16="http://schemas.microsoft.com/office/drawing/2014/main" id="{DED8AD83-1DA6-4A55-9CFE-2735AF106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6172" y="5126522"/>
            <a:ext cx="277813" cy="357188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Ink Free" panose="03080402000500000000" pitchFamily="66" charset="0"/>
              </a:rPr>
              <a:t>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D9958FD-4A73-4997-9286-D9E76462E579}"/>
              </a:ext>
            </a:extLst>
          </p:cNvPr>
          <p:cNvCxnSpPr>
            <a:cxnSpLocks/>
          </p:cNvCxnSpPr>
          <p:nvPr/>
        </p:nvCxnSpPr>
        <p:spPr bwMode="auto">
          <a:xfrm>
            <a:off x="2089473" y="2463316"/>
            <a:ext cx="16817" cy="2288555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7DBEF14-DF81-43D3-BFD1-BF2BF7183788}"/>
              </a:ext>
            </a:extLst>
          </p:cNvPr>
          <p:cNvCxnSpPr>
            <a:cxnSpLocks/>
          </p:cNvCxnSpPr>
          <p:nvPr/>
        </p:nvCxnSpPr>
        <p:spPr bwMode="auto">
          <a:xfrm>
            <a:off x="2076536" y="4751872"/>
            <a:ext cx="745717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0CD179BC-2F5A-4D97-9817-42B14DCA46B3}"/>
              </a:ext>
            </a:extLst>
          </p:cNvPr>
          <p:cNvCxnSpPr>
            <a:cxnSpLocks/>
          </p:cNvCxnSpPr>
          <p:nvPr/>
        </p:nvCxnSpPr>
        <p:spPr bwMode="auto">
          <a:xfrm>
            <a:off x="2799557" y="2501834"/>
            <a:ext cx="16817" cy="2288555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7FF1DB49-9DE7-4461-ADE1-3E35C5C4B0A0}"/>
              </a:ext>
            </a:extLst>
          </p:cNvPr>
          <p:cNvCxnSpPr>
            <a:cxnSpLocks/>
          </p:cNvCxnSpPr>
          <p:nvPr/>
        </p:nvCxnSpPr>
        <p:spPr bwMode="auto">
          <a:xfrm>
            <a:off x="2799557" y="2518260"/>
            <a:ext cx="1097280" cy="0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D30A7F5-04FB-4994-BF31-4E9C660C291B}"/>
              </a:ext>
            </a:extLst>
          </p:cNvPr>
          <p:cNvCxnSpPr>
            <a:cxnSpLocks/>
          </p:cNvCxnSpPr>
          <p:nvPr/>
        </p:nvCxnSpPr>
        <p:spPr bwMode="auto">
          <a:xfrm>
            <a:off x="3896837" y="2501833"/>
            <a:ext cx="0" cy="649224"/>
          </a:xfrm>
          <a:prstGeom prst="line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D66D81-2678-4B3F-8944-23F6206157EA}"/>
              </a:ext>
            </a:extLst>
          </p:cNvPr>
          <p:cNvCxnSpPr/>
          <p:nvPr/>
        </p:nvCxnSpPr>
        <p:spPr bwMode="auto">
          <a:xfrm flipH="1">
            <a:off x="3584253" y="3123680"/>
            <a:ext cx="312584" cy="0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40BB1CE4-9957-4AFA-A493-E67C4B7A609F}"/>
              </a:ext>
            </a:extLst>
          </p:cNvPr>
          <p:cNvSpPr txBox="1"/>
          <p:nvPr/>
        </p:nvSpPr>
        <p:spPr>
          <a:xfrm>
            <a:off x="1090750" y="6069397"/>
            <a:ext cx="619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</a:t>
            </a:r>
            <a:r>
              <a:rPr lang="en-US" dirty="0">
                <a:sym typeface="Wingdings" panose="05000000000000000000" pitchFamily="2" charset="2"/>
              </a:rPr>
              <a:t> 1  2  3  5  6  9  10  11  12  13  G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0A55D3A-8475-42B0-990D-510E2908F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108" y="970937"/>
            <a:ext cx="3363131" cy="5887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5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1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5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3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mph" presetSubtype="1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50"/>
                            </p:stCondLst>
                            <p:childTnLst>
                              <p:par>
                                <p:cTn id="126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7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8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3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indefinite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50"/>
                            </p:stCondLst>
                            <p:childTnLst>
                              <p:par>
                                <p:cTn id="136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8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3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250"/>
                            </p:stCondLst>
                            <p:childTnLst>
                              <p:par>
                                <p:cTn id="146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7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8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00"/>
                            </p:stCondLst>
                            <p:childTnLst>
                              <p:par>
                                <p:cTn id="151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3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indefinite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750"/>
                            </p:stCondLst>
                            <p:childTnLst>
                              <p:par>
                                <p:cTn id="156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7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8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000"/>
                            </p:stCondLst>
                            <p:childTnLst>
                              <p:par>
                                <p:cTn id="161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2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3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6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7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8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500"/>
                            </p:stCondLst>
                            <p:childTnLst>
                              <p:par>
                                <p:cTn id="171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2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3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750"/>
                            </p:stCondLst>
                            <p:childTnLst>
                              <p:par>
                                <p:cTn id="176" presetID="1" presetClass="emph" presetSubtype="1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7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8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000"/>
                            </p:stCondLst>
                            <p:childTnLst>
                              <p:par>
                                <p:cTn id="1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0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3000"/>
                            </p:stCondLst>
                            <p:childTnLst>
                              <p:par>
                                <p:cTn id="1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000"/>
                            </p:stCondLst>
                            <p:childTnLst>
                              <p:par>
                                <p:cTn id="1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000"/>
                            </p:stCondLst>
                            <p:childTnLst>
                              <p:par>
                                <p:cTn id="1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  <p:bldP spid="140" grpId="0"/>
      <p:bldP spid="141" grpId="0"/>
      <p:bldP spid="142" grpId="0"/>
      <p:bldP spid="143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2" grpId="0"/>
      <p:bldP spid="153" grpId="0"/>
      <p:bldP spid="1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deepening depth-first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4F5A537-E066-4763-BA85-AE06B33BCED0}"/>
              </a:ext>
            </a:extLst>
          </p:cNvPr>
          <p:cNvSpPr txBox="1"/>
          <p:nvPr/>
        </p:nvSpPr>
        <p:spPr>
          <a:xfrm>
            <a:off x="1228666" y="1211210"/>
            <a:ext cx="951166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This search algorithm finds out the best depth limit for DLS algorithm.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This algorithm performs depth-first search up to a certain "depth limit", and it keeps increasing the depth limit after each iteration until the goal node is found.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003366"/>
                </a:solidFill>
                <a:latin typeface="Arial"/>
              </a:rPr>
              <a:t>This search </a:t>
            </a:r>
            <a:r>
              <a:rPr lang="en-US" sz="2400" b="0" dirty="0">
                <a:solidFill>
                  <a:srgbClr val="003366"/>
                </a:solidFill>
                <a:latin typeface="Arial"/>
              </a:rPr>
              <a:t>algorithm combines the benefits of Breadth-first search's fast search and depth-first search's memory efficiency.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400" b="0" dirty="0">
              <a:solidFill>
                <a:srgbClr val="003366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637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deepening depth-first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170" name="Picture 2" descr="Uninformed Search Algorithms">
            <a:extLst>
              <a:ext uri="{FF2B5EF4-FFF2-40B4-BE49-F238E27FC236}">
                <a16:creationId xmlns:a16="http://schemas.microsoft.com/office/drawing/2014/main" id="{D43E77C3-3B80-4A78-AD5E-DF3A58F6E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242" y="1214170"/>
            <a:ext cx="5351758" cy="42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B2037F-EF7B-45F6-A444-3D643C20155C}"/>
              </a:ext>
            </a:extLst>
          </p:cNvPr>
          <p:cNvSpPr txBox="1"/>
          <p:nvPr/>
        </p:nvSpPr>
        <p:spPr>
          <a:xfrm>
            <a:off x="1407585" y="1175041"/>
            <a:ext cx="2224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dirty="0">
                <a:solidFill>
                  <a:srgbClr val="003366"/>
                </a:solidFill>
                <a:latin typeface="Arial"/>
              </a:rPr>
              <a:t>Example: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6AC88-5930-43F5-A27B-1173531C7847}"/>
              </a:ext>
            </a:extLst>
          </p:cNvPr>
          <p:cNvSpPr txBox="1"/>
          <p:nvPr/>
        </p:nvSpPr>
        <p:spPr>
          <a:xfrm>
            <a:off x="1232015" y="1970584"/>
            <a:ext cx="61063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3366"/>
                </a:solidFill>
                <a:latin typeface="Arial"/>
              </a:rPr>
              <a:t>IDDFS algorithm performs various iterations until it finds the goal node.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003366"/>
                </a:solidFill>
                <a:latin typeface="Arial"/>
              </a:rPr>
              <a:t>At each iteration, it increases the depth limit by 1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3366"/>
                </a:solidFill>
                <a:latin typeface="Arial"/>
              </a:rPr>
              <a:t>The iteration performed by the algorithm is given as: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1C646-CE37-46B1-9837-21195020A27D}"/>
              </a:ext>
            </a:extLst>
          </p:cNvPr>
          <p:cNvSpPr txBox="1"/>
          <p:nvPr/>
        </p:nvSpPr>
        <p:spPr>
          <a:xfrm>
            <a:off x="1407585" y="3832553"/>
            <a:ext cx="61063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/>
              <a:t>1'st Iteration (depth=0) </a:t>
            </a:r>
            <a:r>
              <a:rPr lang="en-US" b="0" dirty="0">
                <a:sym typeface="Wingdings" panose="05000000000000000000" pitchFamily="2" charset="2"/>
              </a:rPr>
              <a:t> </a:t>
            </a:r>
            <a:r>
              <a:rPr lang="en-US" b="0" dirty="0"/>
              <a:t>A</a:t>
            </a:r>
          </a:p>
          <a:p>
            <a:pPr algn="l"/>
            <a:r>
              <a:rPr lang="en-US" b="0" dirty="0"/>
              <a:t>2'nd Iteration (depth=1) </a:t>
            </a:r>
            <a:r>
              <a:rPr lang="en-US" b="0" dirty="0">
                <a:sym typeface="Wingdings" panose="05000000000000000000" pitchFamily="2" charset="2"/>
              </a:rPr>
              <a:t></a:t>
            </a:r>
            <a:r>
              <a:rPr lang="en-US" b="0" dirty="0"/>
              <a:t> A, B, C</a:t>
            </a:r>
          </a:p>
          <a:p>
            <a:pPr algn="l"/>
            <a:r>
              <a:rPr lang="en-US" b="0" dirty="0"/>
              <a:t>3'rd Iteration (depth=2) </a:t>
            </a:r>
            <a:r>
              <a:rPr lang="en-US" b="0" dirty="0">
                <a:sym typeface="Wingdings" panose="05000000000000000000" pitchFamily="2" charset="2"/>
              </a:rPr>
              <a:t> </a:t>
            </a:r>
            <a:r>
              <a:rPr lang="en-US" b="0" dirty="0"/>
              <a:t>A, B, D, E, C, F, G</a:t>
            </a:r>
          </a:p>
          <a:p>
            <a:pPr algn="l"/>
            <a:endParaRPr lang="en-US" b="0" dirty="0"/>
          </a:p>
          <a:p>
            <a:pPr algn="l"/>
            <a:r>
              <a:rPr lang="en-US" b="0" dirty="0"/>
              <a:t>In the third iteration, the algorithm will find the goal node.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68102-DB13-4CB2-BA45-E0A4F07FFBA3}"/>
              </a:ext>
            </a:extLst>
          </p:cNvPr>
          <p:cNvSpPr txBox="1"/>
          <p:nvPr/>
        </p:nvSpPr>
        <p:spPr>
          <a:xfrm>
            <a:off x="1428272" y="5943184"/>
            <a:ext cx="970889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200" b="0" dirty="0">
                <a:solidFill>
                  <a:srgbClr val="003366"/>
                </a:solidFill>
                <a:latin typeface="Arial"/>
              </a:rPr>
              <a:t>How much this algorithm improves the traditional DFS algorithm?</a:t>
            </a:r>
          </a:p>
        </p:txBody>
      </p:sp>
    </p:spTree>
    <p:extLst>
      <p:ext uri="{BB962C8B-B14F-4D97-AF65-F5344CB8AC3E}">
        <p14:creationId xmlns:p14="http://schemas.microsoft.com/office/powerpoint/2010/main" val="64569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deepening depth-first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6AC88-5930-43F5-A27B-1173531C7847}"/>
              </a:ext>
            </a:extLst>
          </p:cNvPr>
          <p:cNvSpPr txBox="1"/>
          <p:nvPr/>
        </p:nvSpPr>
        <p:spPr>
          <a:xfrm>
            <a:off x="1407585" y="1319656"/>
            <a:ext cx="933274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Advantages</a:t>
            </a:r>
            <a:r>
              <a:rPr lang="en-US" sz="2200" b="0" dirty="0">
                <a:solidFill>
                  <a:srgbClr val="003366"/>
                </a:solidFill>
                <a:latin typeface="Arial"/>
              </a:rPr>
              <a:t>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It combines the benefits of BFS and DFS search algorithm in terms of fast search and memory efficiency.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Disadvantages</a:t>
            </a:r>
            <a:r>
              <a:rPr lang="en-US" sz="2200" b="0" dirty="0">
                <a:solidFill>
                  <a:srgbClr val="003366"/>
                </a:solidFill>
                <a:latin typeface="Arial"/>
              </a:rPr>
              <a:t>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The main drawback of IDDFS is that it repeats all the work of the previous phase.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Completeness: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This algorithm is complete.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Optimal: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IDDFS algorithm is optimal if path cost is a non- decreasing function of the depth of the node.</a:t>
            </a:r>
          </a:p>
        </p:txBody>
      </p:sp>
    </p:spTree>
    <p:extLst>
      <p:ext uri="{BB962C8B-B14F-4D97-AF65-F5344CB8AC3E}">
        <p14:creationId xmlns:p14="http://schemas.microsoft.com/office/powerpoint/2010/main" val="6034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Search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6AC88-5930-43F5-A27B-1173531C7847}"/>
              </a:ext>
            </a:extLst>
          </p:cNvPr>
          <p:cNvSpPr txBox="1"/>
          <p:nvPr/>
        </p:nvSpPr>
        <p:spPr>
          <a:xfrm>
            <a:off x="1407585" y="1319656"/>
            <a:ext cx="933274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Bidirectional search algorithm runs two simultaneous searches, one form initial state called as forward-search and other from goal node called as backward-search.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Bidirectional search replaces one single search graph with two small subgraphs in which one starts the search from the start node and other starts from the goal node.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The search stops when these two graphs intersect each other.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Bidirectional search can use search techniques such as BFS, DFS, DLS, etc.</a:t>
            </a:r>
          </a:p>
        </p:txBody>
      </p:sp>
    </p:spTree>
    <p:extLst>
      <p:ext uri="{BB962C8B-B14F-4D97-AF65-F5344CB8AC3E}">
        <p14:creationId xmlns:p14="http://schemas.microsoft.com/office/powerpoint/2010/main" val="3859189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Search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6AC88-5930-43F5-A27B-1173531C7847}"/>
              </a:ext>
            </a:extLst>
          </p:cNvPr>
          <p:cNvSpPr txBox="1"/>
          <p:nvPr/>
        </p:nvSpPr>
        <p:spPr>
          <a:xfrm>
            <a:off x="1283599" y="1735421"/>
            <a:ext cx="505520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This algorithm divides one graph/tree into two sub-graphs.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 It starts traversing from node 1 in the forward direction, and from goal node 16 in the backward direction.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The algorithm terminates at node 9 where two searches meet.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90478-5FF1-4921-86B6-9D620535087A}"/>
              </a:ext>
            </a:extLst>
          </p:cNvPr>
          <p:cNvSpPr txBox="1"/>
          <p:nvPr/>
        </p:nvSpPr>
        <p:spPr>
          <a:xfrm>
            <a:off x="1407585" y="1175041"/>
            <a:ext cx="22241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dirty="0">
                <a:solidFill>
                  <a:srgbClr val="003366"/>
                </a:solidFill>
                <a:latin typeface="Arial"/>
              </a:rPr>
              <a:t>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7DC14F-FFE6-4697-BF2E-E4F39437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017" y="1636706"/>
            <a:ext cx="4908983" cy="392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7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Bidirectional Search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A6AC88-5930-43F5-A27B-1173531C7847}"/>
              </a:ext>
            </a:extLst>
          </p:cNvPr>
          <p:cNvSpPr txBox="1"/>
          <p:nvPr/>
        </p:nvSpPr>
        <p:spPr>
          <a:xfrm>
            <a:off x="1407585" y="1319656"/>
            <a:ext cx="933274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Advantages: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Bidirectional search is fast.</a:t>
            </a:r>
          </a:p>
          <a:p>
            <a:pPr algn="just">
              <a:spcAft>
                <a:spcPts val="600"/>
              </a:spcAft>
            </a:pPr>
            <a:endParaRPr lang="en-US" sz="220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Disadvantages</a:t>
            </a:r>
            <a:r>
              <a:rPr lang="en-US" sz="2200" b="0" dirty="0">
                <a:solidFill>
                  <a:srgbClr val="003366"/>
                </a:solidFill>
                <a:latin typeface="Arial"/>
              </a:rPr>
              <a:t>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Implementation of the bidirectional search tree is difficult.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In bidirectional search, one should know the goal state in advance.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Completeness: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Bidirectional Search is complete if we use BFS in both searches.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n-US" sz="2200" dirty="0">
                <a:solidFill>
                  <a:srgbClr val="003366"/>
                </a:solidFill>
                <a:latin typeface="Arial"/>
              </a:rPr>
              <a:t>Optimal</a:t>
            </a:r>
            <a:r>
              <a:rPr lang="en-US" sz="2200" b="0" dirty="0">
                <a:solidFill>
                  <a:srgbClr val="003366"/>
                </a:solidFill>
                <a:latin typeface="Arial"/>
              </a:rPr>
              <a:t>: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Bidirectional search is Optimal.</a:t>
            </a:r>
          </a:p>
        </p:txBody>
      </p:sp>
    </p:spTree>
    <p:extLst>
      <p:ext uri="{BB962C8B-B14F-4D97-AF65-F5344CB8AC3E}">
        <p14:creationId xmlns:p14="http://schemas.microsoft.com/office/powerpoint/2010/main" val="120531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4F5A537-E066-4763-BA85-AE06B33BCED0}"/>
              </a:ext>
            </a:extLst>
          </p:cNvPr>
          <p:cNvSpPr txBox="1"/>
          <p:nvPr/>
        </p:nvSpPr>
        <p:spPr>
          <a:xfrm>
            <a:off x="1228665" y="1211210"/>
            <a:ext cx="10410561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It is used when the cost of traversing from one node to another is given (weighted graph).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The primary goal of the uniform-cost search is to find a path to the goal node which has the lowest cumulative cost.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It selects nodes according to their path costs form the root node. 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It uses a priority queue instead of a simple queue (used by BFS).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Uniform cost search is equivalent to BFS algorithm if the path cost of all edges is the same.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753F22A6-507E-43A4-9417-1003D50CB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66" y="4539937"/>
            <a:ext cx="4563686" cy="231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64F5A537-E066-4763-BA85-AE06B33BCED0}"/>
              </a:ext>
            </a:extLst>
          </p:cNvPr>
          <p:cNvSpPr txBox="1"/>
          <p:nvPr/>
        </p:nvSpPr>
        <p:spPr>
          <a:xfrm>
            <a:off x="1228665" y="1211210"/>
            <a:ext cx="10410561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Advantages: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Uniform cost search is optimal because at every state the path with the least cost is chosen.</a:t>
            </a:r>
          </a:p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Disadvantages: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It does not care about the number of steps involve in searching and only concerned about path cost. Due to which this algorithm may be stuck in an infinite loop.</a:t>
            </a:r>
          </a:p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Completeness: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Uniform-cost search is complete, such as if there is a solution, UCS will find it.</a:t>
            </a:r>
          </a:p>
        </p:txBody>
      </p:sp>
    </p:spTree>
    <p:extLst>
      <p:ext uri="{BB962C8B-B14F-4D97-AF65-F5344CB8AC3E}">
        <p14:creationId xmlns:p14="http://schemas.microsoft.com/office/powerpoint/2010/main" val="6267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8608-E97B-45AD-9493-8BABA887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F709FE-F1EF-4115-9831-DB32CB93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595584-50C0-4593-B546-A6248C45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62" y="2147149"/>
            <a:ext cx="5367256" cy="42938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A0C144-4E8D-4D2F-B72B-B54E43348C63}"/>
              </a:ext>
            </a:extLst>
          </p:cNvPr>
          <p:cNvSpPr txBox="1"/>
          <p:nvPr/>
        </p:nvSpPr>
        <p:spPr>
          <a:xfrm>
            <a:off x="1407585" y="1386717"/>
            <a:ext cx="1769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Example: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FE02E-E5FD-4323-A58E-0B6FC3537E87}"/>
              </a:ext>
            </a:extLst>
          </p:cNvPr>
          <p:cNvSpPr txBox="1"/>
          <p:nvPr/>
        </p:nvSpPr>
        <p:spPr>
          <a:xfrm>
            <a:off x="7888638" y="2557326"/>
            <a:ext cx="3936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3366"/>
                </a:solidFill>
                <a:latin typeface="Arial"/>
              </a:rPr>
              <a:t>The path which has the minimum path cost (beginning from the root) is S </a:t>
            </a:r>
            <a:r>
              <a:rPr lang="en-US" sz="1800" b="0" dirty="0">
                <a:solidFill>
                  <a:srgbClr val="003366"/>
                </a:solidFill>
                <a:latin typeface="Arial"/>
                <a:sym typeface="Wingdings" panose="05000000000000000000" pitchFamily="2" charset="2"/>
              </a:rPr>
              <a:t> A  D  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003366"/>
                </a:solidFill>
                <a:latin typeface="Arial"/>
                <a:sym typeface="Wingdings" panose="05000000000000000000" pitchFamily="2" charset="2"/>
              </a:rPr>
              <a:t>Path cost = 1 + 2 + 3 =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98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A32D-54CB-4B39-B4A4-5BBC683B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7D550-615F-400F-86F8-5F70AF17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2ED28-322F-4DBF-8C53-9C72DBA3121E}"/>
              </a:ext>
            </a:extLst>
          </p:cNvPr>
          <p:cNvSpPr txBox="1"/>
          <p:nvPr/>
        </p:nvSpPr>
        <p:spPr>
          <a:xfrm>
            <a:off x="1407585" y="1682222"/>
            <a:ext cx="6729025" cy="505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Enqueue nodes by path cost. 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That is, let g(n) = cost of the path from the start node to the current node n. 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Sort nodes by ascending value of g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If there is more than one path to the same node, keep only the path with the lowest cost in the queue.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Stop when the goal is the first node in the queue</a:t>
            </a:r>
          </a:p>
          <a:p>
            <a:pPr marL="403225" algn="just">
              <a:spcAft>
                <a:spcPts val="1000"/>
              </a:spcAft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Else, expand nodes starting from the first node in the queue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Ignore back paths to the start node.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0" dirty="0">
                <a:solidFill>
                  <a:srgbClr val="003366"/>
                </a:solidFill>
                <a:latin typeface="Arial"/>
              </a:rPr>
              <a:t>Ignore back paths to the parent node.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F7C89BD-4605-4FDE-8552-53F5D46B9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546" y="1672875"/>
            <a:ext cx="3466454" cy="200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87E14-34F4-4BCA-9820-7BDFDAD87F84}"/>
              </a:ext>
            </a:extLst>
          </p:cNvPr>
          <p:cNvSpPr txBox="1"/>
          <p:nvPr/>
        </p:nvSpPr>
        <p:spPr>
          <a:xfrm>
            <a:off x="9006230" y="3614440"/>
            <a:ext cx="171343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b="0" dirty="0">
                <a:solidFill>
                  <a:srgbClr val="003366"/>
                </a:solidFill>
                <a:latin typeface="Arial"/>
              </a:rPr>
              <a:t>g(A) = 5</a:t>
            </a:r>
          </a:p>
          <a:p>
            <a:pPr algn="just">
              <a:spcAft>
                <a:spcPts val="0"/>
              </a:spcAft>
            </a:pPr>
            <a:r>
              <a:rPr lang="en-US" b="0" dirty="0">
                <a:solidFill>
                  <a:srgbClr val="003366"/>
                </a:solidFill>
                <a:latin typeface="Arial"/>
              </a:rPr>
              <a:t>g(B) = 2</a:t>
            </a:r>
          </a:p>
          <a:p>
            <a:pPr algn="just">
              <a:spcAft>
                <a:spcPts val="0"/>
              </a:spcAft>
            </a:pPr>
            <a:r>
              <a:rPr lang="en-US" b="0" dirty="0">
                <a:solidFill>
                  <a:srgbClr val="003366"/>
                </a:solidFill>
                <a:latin typeface="Arial"/>
              </a:rPr>
              <a:t>g(C) = 8</a:t>
            </a:r>
          </a:p>
          <a:p>
            <a:pPr algn="just">
              <a:spcAft>
                <a:spcPts val="0"/>
              </a:spcAft>
            </a:pPr>
            <a:endParaRPr lang="en-US" b="0" dirty="0">
              <a:solidFill>
                <a:srgbClr val="003366"/>
              </a:solidFill>
              <a:latin typeface="Arial"/>
            </a:endParaRPr>
          </a:p>
          <a:p>
            <a:pPr algn="just">
              <a:spcAft>
                <a:spcPts val="0"/>
              </a:spcAft>
            </a:pPr>
            <a:r>
              <a:rPr lang="en-US" b="0" dirty="0">
                <a:solidFill>
                  <a:srgbClr val="003366"/>
                </a:solidFill>
                <a:latin typeface="Arial"/>
              </a:rPr>
              <a:t>Sort: {B, A, C}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691B3-5A12-4A70-A8EA-F97DB11202A5}"/>
              </a:ext>
            </a:extLst>
          </p:cNvPr>
          <p:cNvSpPr txBox="1"/>
          <p:nvPr/>
        </p:nvSpPr>
        <p:spPr>
          <a:xfrm>
            <a:off x="1407585" y="1169743"/>
            <a:ext cx="1769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964445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A32D-54CB-4B39-B4A4-5BBC683B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2ED28-322F-4DBF-8C53-9C72DBA3121E}"/>
              </a:ext>
            </a:extLst>
          </p:cNvPr>
          <p:cNvSpPr txBox="1"/>
          <p:nvPr/>
        </p:nvSpPr>
        <p:spPr>
          <a:xfrm>
            <a:off x="1407585" y="1852702"/>
            <a:ext cx="6675471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Expanded nodes list (sort then expand)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{ S0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S0 { B1, A3, C8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B1 { A3, C8, G21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A3 { D6, C8, E10, G18, G21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D6 { C8, E10, G18, G21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C8 { E10,  G13, G18,  G21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E10 { </a:t>
            </a:r>
            <a:r>
              <a:rPr lang="en-US" sz="2000" b="0" dirty="0">
                <a:solidFill>
                  <a:srgbClr val="00CC00"/>
                </a:solidFill>
                <a:latin typeface="Arial"/>
              </a:rPr>
              <a:t>G13</a:t>
            </a:r>
            <a:r>
              <a:rPr lang="en-US" sz="2000" b="0" dirty="0">
                <a:solidFill>
                  <a:srgbClr val="003366"/>
                </a:solidFill>
                <a:latin typeface="Arial"/>
              </a:rPr>
              <a:t>,  G18,  G21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B050"/>
                </a:solidFill>
                <a:latin typeface="Arial"/>
              </a:rPr>
              <a:t>G13</a:t>
            </a:r>
            <a:endParaRPr lang="en-US" sz="2000" b="0" dirty="0">
              <a:solidFill>
                <a:srgbClr val="003366"/>
              </a:solidFill>
              <a:latin typeface="Arial"/>
            </a:endParaRP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Solution path found is S </a:t>
            </a:r>
            <a:r>
              <a:rPr lang="en-US" sz="2000" b="0" dirty="0">
                <a:solidFill>
                  <a:srgbClr val="003366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US" sz="2000" b="0" dirty="0">
                <a:solidFill>
                  <a:srgbClr val="003366"/>
                </a:solidFill>
                <a:latin typeface="Arial"/>
              </a:rPr>
              <a:t>C </a:t>
            </a:r>
            <a:r>
              <a:rPr lang="en-US" sz="2000" b="0" dirty="0">
                <a:solidFill>
                  <a:srgbClr val="003366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US" sz="2000" b="0" dirty="0">
                <a:solidFill>
                  <a:srgbClr val="003366"/>
                </a:solidFill>
                <a:latin typeface="Arial"/>
              </a:rPr>
              <a:t>G, cost =13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Number of nodes expanded (including goal node) = 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691B3-5A12-4A70-A8EA-F97DB11202A5}"/>
              </a:ext>
            </a:extLst>
          </p:cNvPr>
          <p:cNvSpPr txBox="1"/>
          <p:nvPr/>
        </p:nvSpPr>
        <p:spPr>
          <a:xfrm>
            <a:off x="1407585" y="1340223"/>
            <a:ext cx="1769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Example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81B4CE4-5BC8-415C-9B87-BAE812C6F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757" y="4658043"/>
            <a:ext cx="3253677" cy="213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18B8CAA0-ECF8-4CB5-80DB-88518452A5E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10830202" y="5228069"/>
            <a:ext cx="1519896" cy="856568"/>
          </a:xfrm>
          <a:prstGeom prst="curvedConnector3">
            <a:avLst>
              <a:gd name="adj1" fmla="val 23488"/>
            </a:avLst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26" name="Picture 6">
            <a:extLst>
              <a:ext uri="{FF2B5EF4-FFF2-40B4-BE49-F238E27FC236}">
                <a16:creationId xmlns:a16="http://schemas.microsoft.com/office/drawing/2014/main" id="{BF0F06E8-D776-4383-9BEF-9DF8FF6F8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509" y="1535301"/>
            <a:ext cx="3618164" cy="266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A46E1DF-0594-4DB8-A312-0AA2118A5051}"/>
              </a:ext>
            </a:extLst>
          </p:cNvPr>
          <p:cNvGrpSpPr/>
          <p:nvPr/>
        </p:nvGrpSpPr>
        <p:grpSpPr>
          <a:xfrm>
            <a:off x="2634937" y="2254049"/>
            <a:ext cx="1699928" cy="613135"/>
            <a:chOff x="2634937" y="2254049"/>
            <a:chExt cx="1699928" cy="61313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54515E8-5EA0-4B35-8E4A-737A1E3101F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634937" y="2479729"/>
              <a:ext cx="697199" cy="387455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D0B2020-8AA7-4EA0-BFA2-944F40A099B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068664" y="2479729"/>
              <a:ext cx="278970" cy="340963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6077763-EFCC-4A4C-AB89-CC36A323BF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32136" y="2464231"/>
              <a:ext cx="185980" cy="340963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DA69BE1-FF21-4A5A-B15D-26383F470395}"/>
                </a:ext>
              </a:extLst>
            </p:cNvPr>
            <p:cNvSpPr txBox="1"/>
            <p:nvPr/>
          </p:nvSpPr>
          <p:spPr>
            <a:xfrm>
              <a:off x="3316638" y="2254049"/>
              <a:ext cx="10182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0" dirty="0"/>
                <a:t>path cost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567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A32D-54CB-4B39-B4A4-5BBC683B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2ED28-322F-4DBF-8C53-9C72DBA3121E}"/>
              </a:ext>
            </a:extLst>
          </p:cNvPr>
          <p:cNvSpPr txBox="1"/>
          <p:nvPr/>
        </p:nvSpPr>
        <p:spPr>
          <a:xfrm>
            <a:off x="1372800" y="2501567"/>
            <a:ext cx="667547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Expanded nodes list (sort then expand)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{ S0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S0 {A2, B5 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A2 { </a:t>
            </a:r>
            <a:r>
              <a:rPr lang="en-US" sz="2000" b="0" dirty="0">
                <a:solidFill>
                  <a:srgbClr val="00B050"/>
                </a:solidFill>
                <a:latin typeface="Arial"/>
              </a:rPr>
              <a:t>G3</a:t>
            </a:r>
            <a:r>
              <a:rPr lang="en-US" sz="2000" b="0" dirty="0">
                <a:solidFill>
                  <a:srgbClr val="003366"/>
                </a:solidFill>
                <a:latin typeface="Arial"/>
              </a:rPr>
              <a:t>, B5}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B050"/>
                </a:solidFill>
                <a:latin typeface="Arial"/>
              </a:rPr>
              <a:t>G3</a:t>
            </a:r>
            <a:endParaRPr lang="en-US" sz="2000" b="0" dirty="0">
              <a:solidFill>
                <a:srgbClr val="003366"/>
              </a:solidFill>
              <a:latin typeface="Arial"/>
            </a:endParaRP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Solution path found is S </a:t>
            </a:r>
            <a:r>
              <a:rPr lang="en-US" sz="2000" b="0" dirty="0">
                <a:solidFill>
                  <a:srgbClr val="003366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US" sz="2000" b="0" dirty="0">
                <a:solidFill>
                  <a:srgbClr val="003366"/>
                </a:solidFill>
                <a:latin typeface="Arial"/>
              </a:rPr>
              <a:t>A </a:t>
            </a:r>
            <a:r>
              <a:rPr lang="en-US" sz="2000" b="0" dirty="0">
                <a:solidFill>
                  <a:srgbClr val="003366"/>
                </a:solidFill>
                <a:latin typeface="Arial"/>
                <a:sym typeface="Wingdings" panose="05000000000000000000" pitchFamily="2" charset="2"/>
              </a:rPr>
              <a:t> </a:t>
            </a:r>
            <a:r>
              <a:rPr lang="en-US" sz="2000" b="0" dirty="0">
                <a:solidFill>
                  <a:srgbClr val="003366"/>
                </a:solidFill>
                <a:latin typeface="Arial"/>
              </a:rPr>
              <a:t>G, cost= 3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003366"/>
                </a:solidFill>
                <a:latin typeface="Arial"/>
              </a:rPr>
              <a:t>Number of nodes expanded (including goal node) =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691B3-5A12-4A70-A8EA-F97DB11202A5}"/>
              </a:ext>
            </a:extLst>
          </p:cNvPr>
          <p:cNvSpPr txBox="1"/>
          <p:nvPr/>
        </p:nvSpPr>
        <p:spPr>
          <a:xfrm>
            <a:off x="1407585" y="1340223"/>
            <a:ext cx="1769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5905B-03A6-49E9-8371-B32B16B00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18" y="1801888"/>
            <a:ext cx="5924550" cy="29527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FD064275-37EF-4428-AC39-0D738FC54957}"/>
              </a:ext>
            </a:extLst>
          </p:cNvPr>
          <p:cNvGrpSpPr/>
          <p:nvPr/>
        </p:nvGrpSpPr>
        <p:grpSpPr>
          <a:xfrm>
            <a:off x="9410594" y="4754639"/>
            <a:ext cx="2321623" cy="2103362"/>
            <a:chOff x="9829049" y="4754638"/>
            <a:chExt cx="1982005" cy="1971115"/>
          </a:xfrm>
        </p:grpSpPr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18B8CAA0-ECF8-4CB5-80DB-88518452A5E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9718811" y="5426104"/>
              <a:ext cx="1259865" cy="628183"/>
            </a:xfrm>
            <a:prstGeom prst="curvedConnector3">
              <a:avLst>
                <a:gd name="adj1" fmla="val 3254"/>
              </a:avLst>
            </a:prstGeom>
            <a:ln w="38100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6148" name="Picture 4">
              <a:extLst>
                <a:ext uri="{FF2B5EF4-FFF2-40B4-BE49-F238E27FC236}">
                  <a16:creationId xmlns:a16="http://schemas.microsoft.com/office/drawing/2014/main" id="{0BCB4F04-CBCC-4E54-939F-DEF8F72C03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29049" y="4754638"/>
              <a:ext cx="1982005" cy="1971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19542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E52E-2B96-4820-B1ED-A843A033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Uniform-Cost 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54B04-0D3D-48A5-8C86-176A490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25B55-1EB4-490B-A5DC-9352E88FD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709" y="1705459"/>
            <a:ext cx="4276725" cy="422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28301-F8C5-4792-9D38-ED0A5FFA92A4}"/>
              </a:ext>
            </a:extLst>
          </p:cNvPr>
          <p:cNvSpPr txBox="1"/>
          <p:nvPr/>
        </p:nvSpPr>
        <p:spPr>
          <a:xfrm>
            <a:off x="1235041" y="1340223"/>
            <a:ext cx="17695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dirty="0">
                <a:solidFill>
                  <a:srgbClr val="003366"/>
                </a:solidFill>
                <a:latin typeface="Arial"/>
              </a:rPr>
              <a:t>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E5521-050B-4722-B69E-A900DFE49AAB}"/>
              </a:ext>
            </a:extLst>
          </p:cNvPr>
          <p:cNvSpPr txBox="1"/>
          <p:nvPr/>
        </p:nvSpPr>
        <p:spPr>
          <a:xfrm>
            <a:off x="1235041" y="1801888"/>
            <a:ext cx="60316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Construct the search tree and find the optimum path from S to G using the uniform-cost search algorithm. </a:t>
            </a:r>
          </a:p>
        </p:txBody>
      </p:sp>
    </p:spTree>
    <p:extLst>
      <p:ext uri="{BB962C8B-B14F-4D97-AF65-F5344CB8AC3E}">
        <p14:creationId xmlns:p14="http://schemas.microsoft.com/office/powerpoint/2010/main" val="3538617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E52E-2B96-4820-B1ED-A843A033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54B04-0D3D-48A5-8C86-176A490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E5521-050B-4722-B69E-A900DFE49AAB}"/>
              </a:ext>
            </a:extLst>
          </p:cNvPr>
          <p:cNvSpPr txBox="1"/>
          <p:nvPr/>
        </p:nvSpPr>
        <p:spPr>
          <a:xfrm>
            <a:off x="1407585" y="1290444"/>
            <a:ext cx="10419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Which solution path would BFS and DFS find to move from node S to node G if run on the graph below? </a:t>
            </a:r>
          </a:p>
        </p:txBody>
      </p:sp>
      <p:pic>
        <p:nvPicPr>
          <p:cNvPr id="9218" name="Picture 2" descr="DFS ques">
            <a:extLst>
              <a:ext uri="{FF2B5EF4-FFF2-40B4-BE49-F238E27FC236}">
                <a16:creationId xmlns:a16="http://schemas.microsoft.com/office/drawing/2014/main" id="{EBC3C1EA-3E2F-41EF-B5F4-EC8DA5CC9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161" y="2354931"/>
            <a:ext cx="4849678" cy="218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683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E52E-2B96-4820-B1ED-A843A033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54B04-0D3D-48A5-8C86-176A490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E5521-050B-4722-B69E-A900DFE49AAB}"/>
              </a:ext>
            </a:extLst>
          </p:cNvPr>
          <p:cNvSpPr txBox="1"/>
          <p:nvPr/>
        </p:nvSpPr>
        <p:spPr>
          <a:xfrm>
            <a:off x="3100085" y="1495906"/>
            <a:ext cx="917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BFS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52FA1-A9A3-46AC-82FE-9B71CED1F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95" y="2377152"/>
            <a:ext cx="4457143" cy="28857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AAB795-2973-4BAC-AFF6-CC2695D32590}"/>
              </a:ext>
            </a:extLst>
          </p:cNvPr>
          <p:cNvSpPr txBox="1"/>
          <p:nvPr/>
        </p:nvSpPr>
        <p:spPr>
          <a:xfrm>
            <a:off x="9405310" y="1495905"/>
            <a:ext cx="917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DFS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8E054-0FB5-45CC-9B4B-433469956F60}"/>
              </a:ext>
            </a:extLst>
          </p:cNvPr>
          <p:cNvSpPr txBox="1"/>
          <p:nvPr/>
        </p:nvSpPr>
        <p:spPr>
          <a:xfrm>
            <a:off x="2262752" y="5906849"/>
            <a:ext cx="2405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Path: 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8FF6BA-0B37-43FE-87D7-2E9634F1C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713" y="2078201"/>
            <a:ext cx="3669133" cy="34836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00DDDB-138B-4DEC-BA89-A2D05CE8FEDA}"/>
              </a:ext>
            </a:extLst>
          </p:cNvPr>
          <p:cNvSpPr txBox="1"/>
          <p:nvPr/>
        </p:nvSpPr>
        <p:spPr>
          <a:xfrm>
            <a:off x="7071734" y="5878088"/>
            <a:ext cx="4667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Path: 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B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G </a:t>
            </a:r>
          </a:p>
        </p:txBody>
      </p:sp>
    </p:spTree>
    <p:extLst>
      <p:ext uri="{BB962C8B-B14F-4D97-AF65-F5344CB8AC3E}">
        <p14:creationId xmlns:p14="http://schemas.microsoft.com/office/powerpoint/2010/main" val="952054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E52E-2B96-4820-B1ED-A843A033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54B04-0D3D-48A5-8C86-176A490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E5521-050B-4722-B69E-A900DFE49AAB}"/>
              </a:ext>
            </a:extLst>
          </p:cNvPr>
          <p:cNvSpPr txBox="1"/>
          <p:nvPr/>
        </p:nvSpPr>
        <p:spPr>
          <a:xfrm>
            <a:off x="1407585" y="1290444"/>
            <a:ext cx="10419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Which solution path would uniform-cost search algorithm find to move from node S to node G if run on the graph below? </a:t>
            </a:r>
          </a:p>
        </p:txBody>
      </p:sp>
      <p:pic>
        <p:nvPicPr>
          <p:cNvPr id="12290" name="Picture 2" descr="UCS problem">
            <a:extLst>
              <a:ext uri="{FF2B5EF4-FFF2-40B4-BE49-F238E27FC236}">
                <a16:creationId xmlns:a16="http://schemas.microsoft.com/office/drawing/2014/main" id="{7F968318-0EAB-4EB7-B5E4-948FEBFAA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831" y="2335559"/>
            <a:ext cx="5877192" cy="2957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472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E52E-2B96-4820-B1ED-A843A033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C54B04-0D3D-48A5-8C86-176A490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5D812-4D9B-4D75-85C2-6B75A541952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E5521-050B-4722-B69E-A900DFE49AAB}"/>
              </a:ext>
            </a:extLst>
          </p:cNvPr>
          <p:cNvSpPr txBox="1"/>
          <p:nvPr/>
        </p:nvSpPr>
        <p:spPr>
          <a:xfrm>
            <a:off x="1543994" y="1206262"/>
            <a:ext cx="9171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0"/>
              </a:spcAft>
            </a:pPr>
            <a:r>
              <a:rPr lang="en-US" sz="2400" b="0" dirty="0">
                <a:solidFill>
                  <a:srgbClr val="003366"/>
                </a:solidFill>
                <a:latin typeface="Arial"/>
              </a:rPr>
              <a:t>UCS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98E054-0FB5-45CC-9B4B-433469956F60}"/>
              </a:ext>
            </a:extLst>
          </p:cNvPr>
          <p:cNvSpPr txBox="1"/>
          <p:nvPr/>
        </p:nvSpPr>
        <p:spPr>
          <a:xfrm>
            <a:off x="4417016" y="6041547"/>
            <a:ext cx="3905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Path: </a:t>
            </a:r>
            <a:r>
              <a:rPr lang="en-US" b="0" dirty="0"/>
              <a:t>S </a:t>
            </a:r>
            <a:r>
              <a:rPr lang="en-US" b="0" dirty="0">
                <a:sym typeface="Wingdings" panose="05000000000000000000" pitchFamily="2" charset="2"/>
              </a:rPr>
              <a:t></a:t>
            </a:r>
            <a:r>
              <a:rPr lang="en-US" b="0" dirty="0"/>
              <a:t> A </a:t>
            </a:r>
            <a:r>
              <a:rPr lang="en-US" b="0" dirty="0">
                <a:sym typeface="Wingdings" panose="05000000000000000000" pitchFamily="2" charset="2"/>
              </a:rPr>
              <a:t> </a:t>
            </a:r>
            <a:r>
              <a:rPr lang="en-US" b="0" dirty="0"/>
              <a:t>B </a:t>
            </a:r>
            <a:r>
              <a:rPr lang="en-US" b="0" dirty="0">
                <a:sym typeface="Wingdings" panose="05000000000000000000" pitchFamily="2" charset="2"/>
              </a:rPr>
              <a:t></a:t>
            </a:r>
            <a:r>
              <a:rPr lang="en-US" b="0" dirty="0"/>
              <a:t> G</a:t>
            </a:r>
          </a:p>
          <a:p>
            <a:pPr algn="l"/>
            <a:r>
              <a:rPr lang="en-US" dirty="0"/>
              <a:t>Path cost </a:t>
            </a:r>
            <a:r>
              <a:rPr lang="en-US" b="0" dirty="0"/>
              <a:t>: 5 </a:t>
            </a:r>
          </a:p>
        </p:txBody>
      </p:sp>
      <p:pic>
        <p:nvPicPr>
          <p:cNvPr id="13314" name="Picture 2" descr="UCS solution">
            <a:extLst>
              <a:ext uri="{FF2B5EF4-FFF2-40B4-BE49-F238E27FC236}">
                <a16:creationId xmlns:a16="http://schemas.microsoft.com/office/drawing/2014/main" id="{4BB28F31-48B1-4FC0-83FD-ED11378FC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725" y="1211024"/>
            <a:ext cx="516255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521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598DF-E535-47EE-A984-8A40AE63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1C351-A638-4E2F-A4BA-73DD206E588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0260C-9395-43AB-9564-2027EAAEB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949" y="1929254"/>
            <a:ext cx="8041321" cy="29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56718"/>
      </p:ext>
    </p:extLst>
  </p:cSld>
  <p:clrMapOvr>
    <a:masterClrMapping/>
  </p:clrMapOvr>
</p:sld>
</file>

<file path=ppt/theme/theme1.xml><?xml version="1.0" encoding="utf-8"?>
<a:theme xmlns:a="http://schemas.openxmlformats.org/drawingml/2006/main" name="437TGp_bizpeople_light_ani">
  <a:themeElements>
    <a:clrScheme name="437TGp_bizpeople_light_ani 1">
      <a:dk1>
        <a:srgbClr val="30311D"/>
      </a:dk1>
      <a:lt1>
        <a:srgbClr val="FFFFFF"/>
      </a:lt1>
      <a:dk2>
        <a:srgbClr val="003366"/>
      </a:dk2>
      <a:lt2>
        <a:srgbClr val="DDDDDD"/>
      </a:lt2>
      <a:accent1>
        <a:srgbClr val="7E52CC"/>
      </a:accent1>
      <a:accent2>
        <a:srgbClr val="4A9ACC"/>
      </a:accent2>
      <a:accent3>
        <a:srgbClr val="FFFFFF"/>
      </a:accent3>
      <a:accent4>
        <a:srgbClr val="272817"/>
      </a:accent4>
      <a:accent5>
        <a:srgbClr val="C0B3E2"/>
      </a:accent5>
      <a:accent6>
        <a:srgbClr val="428BB9"/>
      </a:accent6>
      <a:hlink>
        <a:srgbClr val="4582A7"/>
      </a:hlink>
      <a:folHlink>
        <a:srgbClr val="B2AF7A"/>
      </a:folHlink>
    </a:clrScheme>
    <a:fontScheme name="437TGp_bizpeople_light_a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857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53882" dir="2700000" algn="ctr" rotWithShape="0">
                  <a:srgbClr val="080808">
                    <a:alpha val="50000"/>
                  </a:srgbClr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8575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53882" dir="2700000" algn="ctr" rotWithShape="0">
                  <a:srgbClr val="080808">
                    <a:alpha val="50000"/>
                  </a:srgbClr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37TGp_bizpeople_light_ani 1">
        <a:dk1>
          <a:srgbClr val="30311D"/>
        </a:dk1>
        <a:lt1>
          <a:srgbClr val="FFFFFF"/>
        </a:lt1>
        <a:dk2>
          <a:srgbClr val="003366"/>
        </a:dk2>
        <a:lt2>
          <a:srgbClr val="DDDDDD"/>
        </a:lt2>
        <a:accent1>
          <a:srgbClr val="7E52CC"/>
        </a:accent1>
        <a:accent2>
          <a:srgbClr val="4A9ACC"/>
        </a:accent2>
        <a:accent3>
          <a:srgbClr val="FFFFFF"/>
        </a:accent3>
        <a:accent4>
          <a:srgbClr val="272817"/>
        </a:accent4>
        <a:accent5>
          <a:srgbClr val="C0B3E2"/>
        </a:accent5>
        <a:accent6>
          <a:srgbClr val="428BB9"/>
        </a:accent6>
        <a:hlink>
          <a:srgbClr val="4582A7"/>
        </a:hlink>
        <a:folHlink>
          <a:srgbClr val="B2AF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37TGp_bizpeople_light_ani 2">
        <a:dk1>
          <a:srgbClr val="000000"/>
        </a:dk1>
        <a:lt1>
          <a:srgbClr val="FFFFFF"/>
        </a:lt1>
        <a:dk2>
          <a:srgbClr val="702424"/>
        </a:dk2>
        <a:lt2>
          <a:srgbClr val="C0C0C0"/>
        </a:lt2>
        <a:accent1>
          <a:srgbClr val="54BBBE"/>
        </a:accent1>
        <a:accent2>
          <a:srgbClr val="E49514"/>
        </a:accent2>
        <a:accent3>
          <a:srgbClr val="FFFFFF"/>
        </a:accent3>
        <a:accent4>
          <a:srgbClr val="000000"/>
        </a:accent4>
        <a:accent5>
          <a:srgbClr val="B3DADB"/>
        </a:accent5>
        <a:accent6>
          <a:srgbClr val="CF8711"/>
        </a:accent6>
        <a:hlink>
          <a:srgbClr val="6C9A42"/>
        </a:hlink>
        <a:folHlink>
          <a:srgbClr val="82A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37TGp_bizpeople_light_ani 3">
        <a:dk1>
          <a:srgbClr val="003366"/>
        </a:dk1>
        <a:lt1>
          <a:srgbClr val="FFFFFF"/>
        </a:lt1>
        <a:dk2>
          <a:srgbClr val="000000"/>
        </a:dk2>
        <a:lt2>
          <a:srgbClr val="DDDDDD"/>
        </a:lt2>
        <a:accent1>
          <a:srgbClr val="438ACB"/>
        </a:accent1>
        <a:accent2>
          <a:srgbClr val="32A287"/>
        </a:accent2>
        <a:accent3>
          <a:srgbClr val="FFFFFF"/>
        </a:accent3>
        <a:accent4>
          <a:srgbClr val="002A56"/>
        </a:accent4>
        <a:accent5>
          <a:srgbClr val="B0C4E2"/>
        </a:accent5>
        <a:accent6>
          <a:srgbClr val="2C927A"/>
        </a:accent6>
        <a:hlink>
          <a:srgbClr val="729943"/>
        </a:hlink>
        <a:folHlink>
          <a:srgbClr val="82B4B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48384</TotalTime>
  <Words>1165</Words>
  <Application>Microsoft Office PowerPoint</Application>
  <PresentationFormat>Widescreen</PresentationFormat>
  <Paragraphs>195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Ink Free</vt:lpstr>
      <vt:lpstr>Wingdings</vt:lpstr>
      <vt:lpstr>437TGp_bizpeople_light_ani</vt:lpstr>
      <vt:lpstr>PowerPoint Presentation</vt:lpstr>
      <vt:lpstr>AI Search Algorithms </vt:lpstr>
      <vt:lpstr>AI Search Algorithms</vt:lpstr>
      <vt:lpstr>AI Search Algorithms</vt:lpstr>
      <vt:lpstr>Iterative deepening depth-first Search</vt:lpstr>
      <vt:lpstr>Iterative deepening depth-first Search</vt:lpstr>
      <vt:lpstr>Iterative deepening depth-first Search</vt:lpstr>
      <vt:lpstr>Bidirectional Search Algorithm</vt:lpstr>
      <vt:lpstr>Bidirectional Search Algorithm</vt:lpstr>
      <vt:lpstr>Bidirectional Search Algorithm</vt:lpstr>
      <vt:lpstr>Uniform-Cost Search</vt:lpstr>
      <vt:lpstr>Uniform-Cost Search</vt:lpstr>
      <vt:lpstr>Uniform-Cost Search</vt:lpstr>
      <vt:lpstr>Uniform-Cost Search</vt:lpstr>
      <vt:lpstr>Uniform-Cost Search</vt:lpstr>
      <vt:lpstr>Uniform-Cost Search</vt:lpstr>
      <vt:lpstr>Uniform-Cost Search</vt:lpstr>
      <vt:lpstr>Example</vt:lpstr>
      <vt:lpstr>Solution </vt:lpstr>
      <vt:lpstr>Example</vt:lpstr>
      <vt:lpstr>Solution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Ebrahim</dc:creator>
  <cp:lastModifiedBy>Ali Ebrahim</cp:lastModifiedBy>
  <cp:revision>470</cp:revision>
  <dcterms:created xsi:type="dcterms:W3CDTF">2020-08-19T22:23:51Z</dcterms:created>
  <dcterms:modified xsi:type="dcterms:W3CDTF">2023-02-28T12:27:59Z</dcterms:modified>
</cp:coreProperties>
</file>